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AC3 + GENET</c:v>
                </c:pt>
              </c:strCache>
            </c:strRef>
          </c:tx>
          <c:spPr>
            <a:solidFill>
              <a:srgbClr val="1A237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9x9</c:v>
                </c:pt>
                <c:pt idx="1">
                  <c:v>15x15</c:v>
                </c:pt>
                <c:pt idx="2">
                  <c:v>20x20</c:v>
                </c:pt>
                <c:pt idx="3">
                  <c:v>25x25</c:v>
                </c:pt>
                <c:pt idx="4">
                  <c:v>30x30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0.86799999999999999</c:v>
                </c:pt>
                <c:pt idx="1">
                  <c:v>1.4999999999999999E-2</c:v>
                </c:pt>
                <c:pt idx="2">
                  <c:v>0.108</c:v>
                </c:pt>
                <c:pt idx="3">
                  <c:v>14.37</c:v>
                </c:pt>
                <c:pt idx="4">
                  <c:v>18.966999999999999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19-0545-98FB-598FB7D468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GENET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9x9</c:v>
                </c:pt>
                <c:pt idx="1">
                  <c:v>15x15</c:v>
                </c:pt>
                <c:pt idx="2">
                  <c:v>20x20</c:v>
                </c:pt>
                <c:pt idx="3">
                  <c:v>25x25</c:v>
                </c:pt>
                <c:pt idx="4">
                  <c:v>30x30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2.1000000000000001E-2</c:v>
                </c:pt>
                <c:pt idx="1">
                  <c:v>0.51</c:v>
                </c:pt>
                <c:pt idx="2">
                  <c:v>186.23400000000001</c:v>
                </c:pt>
                <c:pt idx="3">
                  <c:v>634.02</c:v>
                </c:pt>
                <c:pt idx="4">
                  <c:v>135.54900000000001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19-0545-98FB-598FB7D468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Forward Checking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9x9</c:v>
                </c:pt>
                <c:pt idx="1">
                  <c:v>15x15</c:v>
                </c:pt>
                <c:pt idx="2">
                  <c:v>20x20</c:v>
                </c:pt>
                <c:pt idx="3">
                  <c:v>25x25</c:v>
                </c:pt>
                <c:pt idx="4">
                  <c:v>30x30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1.802</c:v>
                </c:pt>
                <c:pt idx="1">
                  <c:v>0.11</c:v>
                </c:pt>
                <c:pt idx="2">
                  <c:v>900</c:v>
                </c:pt>
                <c:pt idx="3">
                  <c:v>900</c:v>
                </c:pt>
                <c:pt idx="4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19-0545-98FB-598FB7D46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Puzzle Size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Time (seconds)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Forward Checking</c:v>
                </c:pt>
              </c:strCache>
            </c:strRef>
          </c:tx>
          <c:spPr>
            <a:ln w="38100" cap="flat">
              <a:solidFill>
                <a:srgbClr val="00BC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CD4"/>
              </a:solidFill>
              <a:ln w="9525" cap="flat">
                <a:solidFill>
                  <a:srgbClr val="00BC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12 vars</c:v>
                </c:pt>
                <c:pt idx="1">
                  <c:v>85 vars</c:v>
                </c:pt>
                <c:pt idx="2">
                  <c:v>200 vars</c:v>
                </c:pt>
                <c:pt idx="3">
                  <c:v>350 vars</c:v>
                </c:pt>
                <c:pt idx="4">
                  <c:v>600 vars</c:v>
                </c:pt>
                <c:pt idx="5">
                  <c:v>1000 vars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8.9999999999999993E-3</c:v>
                </c:pt>
                <c:pt idx="2">
                  <c:v>3.5000000000000003E-2</c:v>
                </c:pt>
                <c:pt idx="3">
                  <c:v>0.03</c:v>
                </c:pt>
                <c:pt idx="4">
                  <c:v>0.109</c:v>
                </c:pt>
                <c:pt idx="5">
                  <c:v>0.29599999999999999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C4E-F648-84FA-2DB7AEC1B3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AC3 + FC</c:v>
                </c:pt>
              </c:strCache>
            </c:strRef>
          </c:tx>
          <c:spPr>
            <a:ln w="38100" cap="flat">
              <a:solidFill>
                <a:srgbClr val="1A237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237E"/>
              </a:solidFill>
              <a:ln w="9525" cap="flat">
                <a:solidFill>
                  <a:srgbClr val="1A237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12 vars</c:v>
                </c:pt>
                <c:pt idx="1">
                  <c:v>85 vars</c:v>
                </c:pt>
                <c:pt idx="2">
                  <c:v>200 vars</c:v>
                </c:pt>
                <c:pt idx="3">
                  <c:v>350 vars</c:v>
                </c:pt>
                <c:pt idx="4">
                  <c:v>600 vars</c:v>
                </c:pt>
                <c:pt idx="5">
                  <c:v>1000 vars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3.0000000000000001E-3</c:v>
                </c:pt>
                <c:pt idx="1">
                  <c:v>0.01</c:v>
                </c:pt>
                <c:pt idx="2">
                  <c:v>4.5999999999999999E-2</c:v>
                </c:pt>
                <c:pt idx="3">
                  <c:v>8.3000000000000004E-2</c:v>
                </c:pt>
                <c:pt idx="4">
                  <c:v>0.20499999999999999</c:v>
                </c:pt>
                <c:pt idx="5">
                  <c:v>0.625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C4E-F648-84FA-2DB7AEC1B3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GENET</c:v>
                </c:pt>
              </c:strCache>
            </c:strRef>
          </c:tx>
          <c:spPr>
            <a:ln w="38100" cap="flat">
              <a:solidFill>
                <a:srgbClr val="9E9E9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E9E9E"/>
              </a:solidFill>
              <a:ln w="9525" cap="flat">
                <a:solidFill>
                  <a:srgbClr val="9E9E9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12 vars</c:v>
                </c:pt>
                <c:pt idx="1">
                  <c:v>85 vars</c:v>
                </c:pt>
                <c:pt idx="2">
                  <c:v>200 vars</c:v>
                </c:pt>
                <c:pt idx="3">
                  <c:v>350 vars</c:v>
                </c:pt>
                <c:pt idx="4">
                  <c:v>600 vars</c:v>
                </c:pt>
                <c:pt idx="5">
                  <c:v>1000 vars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5.0000000000000001E-3</c:v>
                </c:pt>
                <c:pt idx="2">
                  <c:v>1.6E-2</c:v>
                </c:pt>
                <c:pt idx="3">
                  <c:v>6.0999999999999999E-2</c:v>
                </c:pt>
                <c:pt idx="4">
                  <c:v>0.61099999999999999</c:v>
                </c:pt>
                <c:pt idx="5">
                  <c:v>1.585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C4E-F648-84FA-2DB7AEC1B3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Problem Size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Time (seconds)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09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445" y="1323975"/>
            <a:ext cx="7192962" cy="685800"/>
          </a:xfrm>
          <a:prstGeom prst="rect">
            <a:avLst/>
          </a:prstGeom>
          <a:noFill/>
          <a:ln/>
        </p:spPr>
        <p:txBody>
          <a:bodyPr wrap="square" lIns="190500" tIns="0" rIns="190500" bIns="0" rtlCol="0" anchor="t"/>
          <a:lstStyle/>
          <a:p>
            <a:pPr marL="0" indent="0" algn="ctr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 Solver Analysis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417436" y="2352675"/>
            <a:ext cx="4309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25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Satisfaction Problems:</a:t>
            </a:r>
            <a:endParaRPr lang="en-US" sz="2250" dirty="0"/>
          </a:p>
          <a:p>
            <a:pPr marL="0" indent="0" algn="ctr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25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Nonograms &amp; Guest Seating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476731" y="3514725"/>
            <a:ext cx="2190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Mogage Nicolae • ICA 246/1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53532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Nonograms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33500"/>
            <a:ext cx="4648200" cy="1352550"/>
          </a:xfrm>
          <a:prstGeom prst="roundRect">
            <a:avLst>
              <a:gd name="adj" fmla="val 4507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485900"/>
            <a:ext cx="44302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Nonogram?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847850"/>
            <a:ext cx="44302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logic puzzle where cells in a grid must be colored (1) or left blank (0) according to numbers at the side of the grid.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2305050"/>
            <a:ext cx="44302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indicate unbroken lines of filled squares in rows and columns.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800350"/>
            <a:ext cx="4648200" cy="129540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933700"/>
            <a:ext cx="4469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4350" y="32385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Sizes: 9x9 to 35x40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4350" y="348615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Varying difficulty levels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4350" y="3733800"/>
            <a:ext cx="4469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puzzles proved computationally challenging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4210050"/>
            <a:ext cx="4648200" cy="495300"/>
          </a:xfrm>
          <a:prstGeom prst="roundRect">
            <a:avLst>
              <a:gd name="adj" fmla="val 12308"/>
            </a:avLst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" y="4362450"/>
            <a:ext cx="45079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puzzles reveal shapes and images</a:t>
            </a:r>
            <a:endParaRPr lang="en-US" sz="10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EF3829-C2A6-848E-890A-20F18C1C4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068" y="1333500"/>
            <a:ext cx="3895755" cy="310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4">
            <a:extLst>
              <a:ext uri="{FF2B5EF4-FFF2-40B4-BE49-F238E27FC236}">
                <a16:creationId xmlns:a16="http://schemas.microsoft.com/office/drawing/2014/main" id="{6643A6CB-BD32-7B75-0D3B-49DDF58D3CB0}"/>
              </a:ext>
            </a:extLst>
          </p:cNvPr>
          <p:cNvSpPr/>
          <p:nvPr/>
        </p:nvSpPr>
        <p:spPr>
          <a:xfrm>
            <a:off x="4724400" y="2206548"/>
            <a:ext cx="4038600" cy="1257300"/>
          </a:xfrm>
          <a:prstGeom prst="roundRect">
            <a:avLst>
              <a:gd name="adj" fmla="val 48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285750" y="676275"/>
            <a:ext cx="57612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Guest Seating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43025"/>
            <a:ext cx="8382000" cy="7620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457325"/>
            <a:ext cx="83164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5300" y="1762125"/>
            <a:ext cx="8316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 guests at tables while satisfying multiple constraints: table capacity, partner preferences, enemy conflicts, and political alignment.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200275"/>
            <a:ext cx="4038600" cy="1257300"/>
          </a:xfrm>
          <a:prstGeom prst="roundRect">
            <a:avLst>
              <a:gd name="adj" fmla="val 48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231457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5300" y="258127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capacity limit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5300" y="277177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guests (same table)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5300" y="296227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 guests (different tables)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5300" y="315277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score alignment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38700" y="277177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Score difference ≤ 2: Same table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38700" y="296227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Score difference &gt; 2: Different tables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3552825"/>
            <a:ext cx="4038600" cy="666750"/>
          </a:xfrm>
          <a:prstGeom prst="roundRect">
            <a:avLst>
              <a:gd name="adj" fmla="val 9143"/>
            </a:avLst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5300" y="366712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Generation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300" y="391477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randomly created at runtime with configurable probabilities.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24400" y="3552825"/>
            <a:ext cx="4038600" cy="666750"/>
          </a:xfrm>
          <a:prstGeom prst="roundRect">
            <a:avLst>
              <a:gd name="adj" fmla="val 91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38700" y="366712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Levels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38700" y="391477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Varying probabilities create easy to hard problems.</a:t>
            </a:r>
            <a:endParaRPr lang="en-US" sz="9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4B0F205B-1966-AA6D-1D8A-1F73AF294EFD}"/>
              </a:ext>
            </a:extLst>
          </p:cNvPr>
          <p:cNvSpPr/>
          <p:nvPr/>
        </p:nvSpPr>
        <p:spPr>
          <a:xfrm>
            <a:off x="4838700" y="2278566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Score Rule</a:t>
            </a:r>
            <a:endParaRPr lang="en-US" sz="105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F454D7C4-D5F9-3EE2-DB5C-059D7632523A}"/>
              </a:ext>
            </a:extLst>
          </p:cNvPr>
          <p:cNvSpPr/>
          <p:nvPr/>
        </p:nvSpPr>
        <p:spPr>
          <a:xfrm>
            <a:off x="4838700" y="2581275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Each Guest receives a score from 1 to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Solutions: CSP Modeling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1" y="1209675"/>
            <a:ext cx="4038600" cy="3009900"/>
          </a:xfrm>
          <a:prstGeom prst="roundRect">
            <a:avLst>
              <a:gd name="adj" fmla="val 2025"/>
            </a:avLst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1" y="1362075"/>
            <a:ext cx="19139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Nonograms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3401" y="1743075"/>
            <a:ext cx="37338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701" y="18954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7701" y="21240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and column (M+N total)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1" y="2543175"/>
            <a:ext cx="37338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701" y="26955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7701" y="29241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patterns satisfying clues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3401" y="3343275"/>
            <a:ext cx="37338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7701" y="34956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7701" y="37242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row[c] = column[r] at intersections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4401" y="1209675"/>
            <a:ext cx="4038600" cy="3009900"/>
          </a:xfrm>
          <a:prstGeom prst="roundRect">
            <a:avLst>
              <a:gd name="adj" fmla="val 2025"/>
            </a:avLst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6801" y="1362075"/>
            <a:ext cx="19139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Seating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76801" y="1743075"/>
            <a:ext cx="37338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91101" y="18954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91101" y="21240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 (G₁, G₂, ..., Gₙ)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76801" y="2543175"/>
            <a:ext cx="37338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91101" y="26955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91101" y="29241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{1, 2, ..., M}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76801" y="3343275"/>
            <a:ext cx="37338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91101" y="34956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91101" y="3724275"/>
            <a:ext cx="3575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Enemy, Partner, Political, Capacity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438650"/>
            <a:ext cx="8382000" cy="495300"/>
          </a:xfrm>
          <a:prstGeom prst="roundRect">
            <a:avLst>
              <a:gd name="adj" fmla="val 12308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3766" y="4591050"/>
            <a:ext cx="8316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Methods: AC-3 &amp; PC-4 (reduction) + Forward Checking, GBJ, GENET (search)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47725"/>
            <a:ext cx="513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&amp;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14475"/>
            <a:ext cx="4038600" cy="1219200"/>
          </a:xfrm>
          <a:prstGeom prst="roundRect">
            <a:avLst>
              <a:gd name="adj" fmla="val 5000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62877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Tested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5300" y="193357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AC-3 + {FC, BT, GBJ, GENET}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5300" y="216217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PC-4 + {FC, BT, GBJ, GENET}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" y="239077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Standalone: FC, BT, GBJ, GENET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24400" y="1514475"/>
            <a:ext cx="4038600" cy="1219200"/>
          </a:xfrm>
          <a:prstGeom prst="roundRect">
            <a:avLst>
              <a:gd name="adj" fmla="val 60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8700" y="162877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Limits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38700" y="203835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min:</a:t>
            </a: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38700" y="22860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min:</a:t>
            </a: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Search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2828925"/>
            <a:ext cx="4038600" cy="1219200"/>
          </a:xfrm>
          <a:prstGeom prst="roundRect">
            <a:avLst>
              <a:gd name="adj" fmla="val 5000"/>
            </a:avLst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" y="2943225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Structures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300" y="324802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Variable: Mutable domains, conflict tracking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" y="347662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Constraint: Abstract satisfaction logic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" y="370522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CSP: Variables, constraints, adjacency map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4400" y="2828925"/>
            <a:ext cx="4038600" cy="1219200"/>
          </a:xfrm>
          <a:prstGeom prst="roundRect">
            <a:avLst>
              <a:gd name="adj" fmla="val 6154"/>
            </a:avLst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38700" y="2939043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Tracked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38700" y="3182511"/>
            <a:ext cx="3886200" cy="80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time, </a:t>
            </a:r>
            <a:b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visited,</a:t>
            </a:r>
            <a:b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checks,</a:t>
            </a:r>
            <a:b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Backtracks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00050"/>
            <a:ext cx="56641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Nonograms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04925"/>
            <a:ext cx="4000500" cy="1047750"/>
          </a:xfrm>
          <a:prstGeom prst="roundRect">
            <a:avLst>
              <a:gd name="adj" fmla="val 5818"/>
            </a:avLst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41922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Best Performers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5300" y="16668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AC-3: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1-15ms on most puzzles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5300" y="18573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21-510ms, solved 9/10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5300" y="20478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Checking: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Good on smaller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447925"/>
            <a:ext cx="4000500" cy="1047750"/>
          </a:xfrm>
          <a:prstGeom prst="roundRect">
            <a:avLst>
              <a:gd name="adj" fmla="val 5818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" y="256222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Poor Performers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5300" y="28098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Backtracking &amp; GBJ:</a:t>
            </a: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Timeout 7/9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5300" y="30003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PC-4:</a:t>
            </a: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OutOfMemory (6/10)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5300" y="31908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reduction, minimal benefit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3590925"/>
            <a:ext cx="4000500" cy="666750"/>
          </a:xfrm>
          <a:prstGeom prst="roundRect">
            <a:avLst>
              <a:gd name="adj" fmla="val 9143"/>
            </a:avLst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300" y="370522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" y="39528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AC-3 drastically reduces search space, enabling near-instant solving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9689" y="2590800"/>
            <a:ext cx="15497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PLACEHOLDER</a:t>
            </a:r>
            <a:endParaRPr lang="en-US" sz="1050" dirty="0"/>
          </a:p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</a:t>
            </a:r>
            <a:endParaRPr lang="en-US" sz="10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389120" y="1188720"/>
          <a:ext cx="43891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90550"/>
            <a:ext cx="6072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Guest Seating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04925"/>
            <a:ext cx="4000500" cy="1047750"/>
          </a:xfrm>
          <a:prstGeom prst="roundRect">
            <a:avLst>
              <a:gd name="adj" fmla="val 5818"/>
            </a:avLst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41922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Clear Winner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5300" y="16668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Checking: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Fastest at all scales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95300" y="18573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vars: 0ms | 200 vars: 5-35ms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5300" y="20478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vars: 109ms | 1000 vars: 296ms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447925"/>
            <a:ext cx="4000500" cy="857250"/>
          </a:xfrm>
          <a:prstGeom prst="roundRect">
            <a:avLst>
              <a:gd name="adj" fmla="val 7111"/>
            </a:avLst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" y="256222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 Performance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5300" y="28098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best (0-1585ms)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5300" y="30003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AC-3 + GENET: Competitive option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400425"/>
            <a:ext cx="4000500" cy="857250"/>
          </a:xfrm>
          <a:prstGeom prst="roundRect">
            <a:avLst>
              <a:gd name="adj" fmla="val 7111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" y="351472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Behavior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5300" y="37623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5000 constraints:</a:t>
            </a: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BT &amp; GBJ timeout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5300" y="3952875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AC-3: Long preprocess, no search gain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67450" y="2590800"/>
            <a:ext cx="15142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PLACEHOLDER</a:t>
            </a:r>
            <a:endParaRPr lang="en-US" sz="1050" dirty="0"/>
          </a:p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Analysis</a:t>
            </a:r>
            <a:endParaRPr lang="en-US" sz="10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389120" y="1188720"/>
          <a:ext cx="43891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16">
            <a:extLst>
              <a:ext uri="{FF2B5EF4-FFF2-40B4-BE49-F238E27FC236}">
                <a16:creationId xmlns:a16="http://schemas.microsoft.com/office/drawing/2014/main" id="{AB21816C-F088-6504-C301-DC175C21A835}"/>
              </a:ext>
            </a:extLst>
          </p:cNvPr>
          <p:cNvSpPr/>
          <p:nvPr/>
        </p:nvSpPr>
        <p:spPr>
          <a:xfrm>
            <a:off x="4724400" y="3562350"/>
            <a:ext cx="4038600" cy="857250"/>
          </a:xfrm>
          <a:prstGeom prst="roundRect">
            <a:avLst>
              <a:gd name="adj" fmla="val 7111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285750" y="4572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23950"/>
            <a:ext cx="8382000" cy="895350"/>
          </a:xfrm>
          <a:prstGeom prst="roundRect">
            <a:avLst>
              <a:gd name="adj" fmla="val 6809"/>
            </a:avLst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276350"/>
            <a:ext cx="4129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Universal Solution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3400" y="1638300"/>
            <a:ext cx="823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selection must be guided by problem characteristics. No single approach dominates all scenarios.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114550"/>
            <a:ext cx="4038600" cy="1371600"/>
          </a:xfrm>
          <a:prstGeom prst="roundRect">
            <a:avLst>
              <a:gd name="adj" fmla="val 4444"/>
            </a:avLst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2247900"/>
            <a:ext cx="384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Problems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4350" y="2552700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AC-3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4350" y="2781300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for dense grids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4350" y="2971800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Drastically reduces search space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4350" y="3162300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Near-instant solving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24400" y="2114550"/>
            <a:ext cx="4038600" cy="137160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7750" y="2247900"/>
            <a:ext cx="3847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General Problems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7750" y="2552700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Forward Checking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57750" y="2781300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scalability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57750" y="2971800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performance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57750" y="3162300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large constraint sets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3581400"/>
            <a:ext cx="4038600" cy="857250"/>
          </a:xfrm>
          <a:prstGeom prst="roundRect">
            <a:avLst>
              <a:gd name="adj" fmla="val 7111"/>
            </a:avLst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5300" y="36957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5300" y="39433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Backtracking &amp; GBJ: Poor scalability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5300" y="41338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PC-4: High overhead, memory issues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57750" y="394335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GENET: Good general solver, but may get stuck in local minima</a:t>
            </a:r>
            <a:endParaRPr lang="en-US" sz="9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8733FAFF-9748-B031-D572-245A37C4AFF0}"/>
              </a:ext>
            </a:extLst>
          </p:cNvPr>
          <p:cNvSpPr/>
          <p:nvPr/>
        </p:nvSpPr>
        <p:spPr>
          <a:xfrm>
            <a:off x="4857750" y="36957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584</Words>
  <Application>Microsoft Macintosh PowerPoint</Application>
  <PresentationFormat>On-screen Show (16:9)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Solver Analysis</dc:title>
  <dc:subject>Constraint Satisfaction Problems</dc:subject>
  <dc:creator>Mogage Nicolae</dc:creator>
  <cp:lastModifiedBy>Nicolae Mogage</cp:lastModifiedBy>
  <cp:revision>3</cp:revision>
  <dcterms:created xsi:type="dcterms:W3CDTF">2025-12-03T08:33:21Z</dcterms:created>
  <dcterms:modified xsi:type="dcterms:W3CDTF">2025-12-03T13:14:10Z</dcterms:modified>
</cp:coreProperties>
</file>