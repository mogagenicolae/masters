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8"/>
  </p:notesMasterIdLst>
  <p:sldIdLst>
    <p:sldId id="256" r:id="rId2"/>
    <p:sldId id="257" r:id="rId3"/>
    <p:sldId id="262" r:id="rId4"/>
    <p:sldId id="305" r:id="rId5"/>
    <p:sldId id="280" r:id="rId6"/>
    <p:sldId id="264" r:id="rId7"/>
  </p:sldIdLst>
  <p:sldSz cx="9144000" cy="5143500" type="screen16x9"/>
  <p:notesSz cx="6858000" cy="9144000"/>
  <p:embeddedFontLst>
    <p:embeddedFont>
      <p:font typeface="Montserrat" pitchFamily="2" charset="77"/>
      <p:regular r:id="rId9"/>
      <p:bold r:id="rId10"/>
      <p:italic r:id="rId11"/>
      <p:boldItalic r:id="rId12"/>
    </p:embeddedFont>
    <p:embeddedFont>
      <p:font typeface="Montserrat ExtraBold" panose="020F0502020204030204" pitchFamily="34" charset="0"/>
      <p:bold r:id="rId13"/>
      <p:italic r:id="rId14"/>
      <p:boldItalic r:id="rId15"/>
    </p:embeddedFont>
    <p:embeddedFont>
      <p:font typeface="Montserrat ExtraLight" panose="020F03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3BC7FC-60D1-42CC-BA76-CAB5045769A5}">
  <a:tblStyle styleId="{5C3BC7FC-60D1-42CC-BA76-CAB5045769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26"/>
  </p:normalViewPr>
  <p:slideViewPr>
    <p:cSldViewPr snapToGrid="0">
      <p:cViewPr varScale="1">
        <p:scale>
          <a:sx n="161" d="100"/>
          <a:sy n="161" d="100"/>
        </p:scale>
        <p:origin x="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5AF8AC4-283E-FC3A-1B93-AFBFB3A5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3F6C8386-3EB1-2FA0-6E04-3B6E63E9E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C3300091-79B2-40DE-1E5C-D298AA407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647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7f9262ee2f_0_26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7f9262ee2f_0_26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59" r:id="rId6"/>
    <p:sldLayoutId id="214748366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912500" y="1950100"/>
            <a:ext cx="50556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Translation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624375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Mogage Nicolae</a:t>
            </a:r>
            <a:endParaRPr sz="18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From Mechanical Translation</a:t>
            </a:r>
            <a:br>
              <a:rPr lang="en-US" dirty="0"/>
            </a:br>
            <a:r>
              <a:rPr lang="en-US" dirty="0"/>
              <a:t>to Neural Systems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763164" y="1658575"/>
            <a:ext cx="7617671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sz="1200" dirty="0"/>
              <a:t>The concept of Machine Translation was formally introduced by Petr Petrovich </a:t>
            </a:r>
            <a:r>
              <a:rPr lang="en" sz="1200" dirty="0" err="1"/>
              <a:t>Troyanskii</a:t>
            </a:r>
            <a:r>
              <a:rPr lang="en" sz="1200" dirty="0"/>
              <a:t> in 1939, though it was never developed.</a:t>
            </a:r>
            <a:endParaRPr sz="12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sz="1200" dirty="0"/>
              <a:t>Since 1949, when Warren Weaver proposed using computers to solve this task, machine translation has been studied extensively.</a:t>
            </a:r>
            <a:endParaRPr sz="12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sz="1200" dirty="0"/>
              <a:t>In the 70’s, Rule-based Machine Translation was the primary focus, where the translation was being done by: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" sz="1200" dirty="0"/>
              <a:t>Converting the source text to a language-free conceptual representation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" sz="1200" dirty="0"/>
              <a:t>Augmenting this representation with information that was implicit in the source text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Converting this augmented representation to the target language</a:t>
            </a:r>
          </a:p>
          <a:p>
            <a:pPr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As proved complicated for some languages (e.g. English-Japan), Example-Based Translation was introduced, where the system relied on a bigger dataset to learn the correspondence between words and structure of the language.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200"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827470" y="445025"/>
            <a:ext cx="5664774" cy="547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Probabilistic Revolution in MT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827470" y="1023775"/>
            <a:ext cx="6219941" cy="3789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Statistical Machine Translation(STM)</a:t>
            </a:r>
            <a:r>
              <a:rPr lang="en-US" dirty="0"/>
              <a:t>, introduced by Peter Brown et al., defined translation as a probabilistic process:</a:t>
            </a:r>
            <a:endParaRPr dirty="0"/>
          </a:p>
          <a:p>
            <a:pPr>
              <a:spcBef>
                <a:spcPts val="1600"/>
              </a:spcBef>
            </a:pPr>
            <a:r>
              <a:rPr lang="en-US" dirty="0"/>
              <a:t>T </a:t>
            </a:r>
            <a:r>
              <a:rPr lang="en-US" i="1" dirty="0"/>
              <a:t>= </a:t>
            </a:r>
            <a:r>
              <a:rPr lang="en-US" i="1" dirty="0" err="1"/>
              <a:t>argmaxP</a:t>
            </a:r>
            <a:r>
              <a:rPr lang="en-US" i="1" dirty="0"/>
              <a:t>(T∣S) </a:t>
            </a:r>
            <a:r>
              <a:rPr lang="en-US" dirty="0"/>
              <a:t>= </a:t>
            </a:r>
            <a:r>
              <a:rPr lang="en-US" i="1" dirty="0" err="1"/>
              <a:t>argmaxP</a:t>
            </a:r>
            <a:r>
              <a:rPr lang="en-US" i="1" dirty="0"/>
              <a:t>(T)P(S∣T) </a:t>
            </a:r>
            <a:endParaRPr i="1" dirty="0"/>
          </a:p>
          <a:p>
            <a:r>
              <a:rPr lang="en-US" i="1" dirty="0"/>
              <a:t>P(T)</a:t>
            </a:r>
            <a:r>
              <a:rPr lang="en-US" dirty="0"/>
              <a:t>: </a:t>
            </a:r>
            <a:r>
              <a:rPr lang="en-US" i="1" dirty="0"/>
              <a:t>Language Model</a:t>
            </a:r>
            <a:r>
              <a:rPr lang="en-US" dirty="0"/>
              <a:t> ensures grammatical fluency. </a:t>
            </a:r>
          </a:p>
          <a:p>
            <a:pPr lvl="0"/>
            <a:r>
              <a:rPr lang="en-US" i="1" dirty="0"/>
              <a:t>P(S∣T)</a:t>
            </a:r>
            <a:r>
              <a:rPr lang="en-US" dirty="0"/>
              <a:t>: </a:t>
            </a:r>
            <a:r>
              <a:rPr lang="en-US" i="1" dirty="0"/>
              <a:t>Translation Model</a:t>
            </a:r>
            <a:r>
              <a:rPr lang="en-US" dirty="0"/>
              <a:t> estimates correspondence between source and target.</a:t>
            </a:r>
          </a:p>
          <a:p>
            <a:pPr lvl="0"/>
            <a:r>
              <a:rPr lang="en-US" dirty="0"/>
              <a:t>Decoder selects the most probable target sentence.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 dirty="0"/>
              <a:t>Word-based STM </a:t>
            </a:r>
            <a:r>
              <a:rPr lang="en" dirty="0"/>
              <a:t>proposed the idea of word alignment, which is mapping each word in</a:t>
            </a:r>
            <a:r>
              <a:rPr lang="en-US" dirty="0"/>
              <a:t> source to its counterpart in target.</a:t>
            </a:r>
            <a:br>
              <a:rPr lang="en-US" dirty="0"/>
            </a:br>
            <a:r>
              <a:rPr lang="en-US" b="1" dirty="0"/>
              <a:t>Phrase-based STM </a:t>
            </a:r>
            <a:r>
              <a:rPr lang="en-US" dirty="0"/>
              <a:t>replaced word-by-word translation with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dirty="0"/>
              <a:t>multi-word “phrases”, which were able to capture idioms, reordering, and contextual meaning better.</a:t>
            </a:r>
          </a:p>
        </p:txBody>
      </p:sp>
      <p:cxnSp>
        <p:nvCxnSpPr>
          <p:cNvPr id="216" name="Google Shape;216;p44"/>
          <p:cNvCxnSpPr/>
          <p:nvPr/>
        </p:nvCxnSpPr>
        <p:spPr>
          <a:xfrm>
            <a:off x="91517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BE7CBDCC-78FB-DE46-94B5-3F33B0CB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9E45D60C-8826-179B-B6F4-8A0C962CD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From Discrete Words to Continuous Representations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70FADC6C-D49E-3109-88BF-996EB2210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3164" y="1216608"/>
            <a:ext cx="8080390" cy="375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None/>
            </a:pPr>
            <a:r>
              <a:rPr lang="en-US" sz="1400" b="1" dirty="0"/>
              <a:t>Motivation: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SMT models treat each word/phrase as an isolated unit, ignoring semantic similarity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Leads to data sparsity and poor handling of unseen phrases.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Neural</a:t>
            </a:r>
            <a:r>
              <a:rPr lang="en-US" sz="1200" b="1" dirty="0"/>
              <a:t> </a:t>
            </a:r>
            <a:r>
              <a:rPr lang="en-US" sz="1200" dirty="0"/>
              <a:t>models introduces </a:t>
            </a:r>
            <a:r>
              <a:rPr lang="en-US" sz="1200" b="1" dirty="0"/>
              <a:t>continuous vector representations </a:t>
            </a:r>
            <a:r>
              <a:rPr lang="en-US" sz="1200" dirty="0"/>
              <a:t>that capture semantic relationships.</a:t>
            </a:r>
          </a:p>
          <a:p>
            <a:pPr marL="155575" indent="0">
              <a:buClr>
                <a:schemeClr val="accent1"/>
              </a:buClr>
              <a:buNone/>
            </a:pPr>
            <a:r>
              <a:rPr lang="en-US" sz="1400" b="1" dirty="0"/>
              <a:t>Architectural Evolution: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Recurrent Continuous Translation Model (RCTM), which combined a CNN and an RNN.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RNN Encoder-Decoder, that learned phrase translation probabilities and improved SMT phrase tables.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Sequence-to-Sequence with LSTMs, where deep stacked LSTMs were used, achieving near state-of-the-art result on English-French.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 err="1"/>
              <a:t>Bahdanau</a:t>
            </a:r>
            <a:r>
              <a:rPr lang="en-US" sz="1200" dirty="0"/>
              <a:t> et al. introduced in 2014 soft attention – allowing the model to “focus” on specific source words dynamically.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Luong et al. developed global and local attention models, improving efficiency and long-sentence handling.</a:t>
            </a:r>
          </a:p>
          <a:p>
            <a:pPr marL="155575" lvl="0" indent="0">
              <a:buClr>
                <a:schemeClr val="accent1"/>
              </a:buClr>
              <a:buNone/>
            </a:pPr>
            <a:r>
              <a:rPr lang="en-US" sz="1400" b="1" dirty="0"/>
              <a:t>Out-of-Vocabulary (OOV) Handling: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Jean et al. proposed a method based on importance sampling for large target vocabularies.</a:t>
            </a:r>
          </a:p>
          <a:p>
            <a:pPr lvl="1">
              <a:spcBef>
                <a:spcPts val="0"/>
              </a:spcBef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200" dirty="0"/>
              <a:t>Luong et al. introduces a dictionary-based post-processing learning phase using word alignments.</a:t>
            </a:r>
            <a:endParaRPr lang="en-US" sz="1400" dirty="0"/>
          </a:p>
          <a:p>
            <a:pPr marL="155575" indent="0">
              <a:buClr>
                <a:schemeClr val="accent1"/>
              </a:buClr>
              <a:buNone/>
            </a:pPr>
            <a:endParaRPr lang="en-US" sz="1400" b="1" dirty="0"/>
          </a:p>
          <a:p>
            <a:pPr marL="155575" indent="0">
              <a:buClr>
                <a:schemeClr val="accent1"/>
              </a:buClr>
              <a:buNone/>
            </a:pPr>
            <a:endParaRPr lang="en-US" sz="1200" b="1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FE682CCF-EDBB-23E7-B3AA-E3408F8E829D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21869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62"/>
          <p:cNvSpPr txBox="1">
            <a:spLocks noGrp="1"/>
          </p:cNvSpPr>
          <p:nvPr>
            <p:ph type="body" idx="2"/>
          </p:nvPr>
        </p:nvSpPr>
        <p:spPr>
          <a:xfrm>
            <a:off x="4049486" y="909600"/>
            <a:ext cx="4624251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dirty="0">
                <a:solidFill>
                  <a:schemeClr val="lt1"/>
                </a:solidFill>
              </a:rPr>
              <a:t>Kaiser et al. proposed a multi-modal neural architecture, “One Model to Learn Them All”, that can learn many tasks across domains, which showed potential for cross-domain learning.</a:t>
            </a: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dirty="0" err="1">
                <a:solidFill>
                  <a:schemeClr val="lt1"/>
                </a:solidFill>
              </a:rPr>
              <a:t>Artetxe</a:t>
            </a:r>
            <a:r>
              <a:rPr lang="en-US" dirty="0">
                <a:solidFill>
                  <a:schemeClr val="lt1"/>
                </a:solidFill>
              </a:rPr>
              <a:t> et al. </a:t>
            </a:r>
            <a:r>
              <a:rPr lang="en-US" dirty="0"/>
              <a:t>introduced an unsupervised approach which relies solely on a monolingual corpus. It used a shared encoder with denoising and on-the-fly backtranslation as decoder.</a:t>
            </a:r>
            <a:endParaRPr lang="en-US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dirty="0"/>
              <a:t>Requirement of a large parallel corpus to train NMT systems. The lack of such corpus for low-resource languages.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091" name="Google Shape;2091;p6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Recent Trends and Open Challenges</a:t>
            </a:r>
            <a:endParaRPr dirty="0"/>
          </a:p>
        </p:txBody>
      </p:sp>
      <p:cxnSp>
        <p:nvCxnSpPr>
          <p:cNvPr id="2092" name="Google Shape;2092;p6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Integrating Ontologies into Neural MT Systems</a:t>
            </a:r>
            <a:endParaRPr dirty="0"/>
          </a:p>
        </p:txBody>
      </p:sp>
      <p:cxnSp>
        <p:nvCxnSpPr>
          <p:cNvPr id="234" name="Google Shape;234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35" name="Google Shape;235;p46"/>
          <p:cNvSpPr txBox="1">
            <a:spLocks noGrp="1"/>
          </p:cNvSpPr>
          <p:nvPr>
            <p:ph type="title"/>
          </p:nvPr>
        </p:nvSpPr>
        <p:spPr>
          <a:xfrm>
            <a:off x="3538497" y="1901289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Approach</a:t>
            </a:r>
            <a:endParaRPr dirty="0"/>
          </a:p>
        </p:txBody>
      </p:sp>
      <p:sp>
        <p:nvSpPr>
          <p:cNvPr id="236" name="Google Shape;236;p46"/>
          <p:cNvSpPr txBox="1">
            <a:spLocks noGrp="1"/>
          </p:cNvSpPr>
          <p:nvPr>
            <p:ph type="subTitle" idx="1"/>
          </p:nvPr>
        </p:nvSpPr>
        <p:spPr>
          <a:xfrm>
            <a:off x="3538497" y="2586189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 Mapping, Semantic Context Integration, Hybrid Architecture</a:t>
            </a:r>
          </a:p>
        </p:txBody>
      </p:sp>
      <p:sp>
        <p:nvSpPr>
          <p:cNvPr id="237" name="Google Shape;237;p46"/>
          <p:cNvSpPr txBox="1">
            <a:spLocks noGrp="1"/>
          </p:cNvSpPr>
          <p:nvPr>
            <p:ph type="title" idx="2"/>
          </p:nvPr>
        </p:nvSpPr>
        <p:spPr>
          <a:xfrm>
            <a:off x="6028553" y="1901289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Contributions</a:t>
            </a:r>
            <a:endParaRPr dirty="0"/>
          </a:p>
        </p:txBody>
      </p:sp>
      <p:sp>
        <p:nvSpPr>
          <p:cNvPr id="238" name="Google Shape;238;p46"/>
          <p:cNvSpPr txBox="1">
            <a:spLocks noGrp="1"/>
          </p:cNvSpPr>
          <p:nvPr>
            <p:ph type="subTitle" idx="3"/>
          </p:nvPr>
        </p:nvSpPr>
        <p:spPr>
          <a:xfrm>
            <a:off x="6028553" y="2586189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Improved disambiguation, reduce semantic errors, enhance interpretability</a:t>
            </a:r>
            <a:endParaRPr dirty="0"/>
          </a:p>
        </p:txBody>
      </p:sp>
      <p:sp>
        <p:nvSpPr>
          <p:cNvPr id="239" name="Google Shape;239;p46"/>
          <p:cNvSpPr txBox="1">
            <a:spLocks noGrp="1"/>
          </p:cNvSpPr>
          <p:nvPr>
            <p:ph type="title" idx="5"/>
          </p:nvPr>
        </p:nvSpPr>
        <p:spPr>
          <a:xfrm>
            <a:off x="872100" y="1901289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Aim</a:t>
            </a:r>
            <a:endParaRPr dirty="0"/>
          </a:p>
        </p:txBody>
      </p:sp>
      <p:sp>
        <p:nvSpPr>
          <p:cNvPr id="240" name="Google Shape;240;p46"/>
          <p:cNvSpPr txBox="1">
            <a:spLocks noGrp="1"/>
          </p:cNvSpPr>
          <p:nvPr>
            <p:ph type="subTitle" idx="6"/>
          </p:nvPr>
        </p:nvSpPr>
        <p:spPr>
          <a:xfrm>
            <a:off x="816560" y="2594736"/>
            <a:ext cx="2178079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Integrate ontologies to enhance semantic understanding and disambiguation in MT</a:t>
            </a:r>
            <a:endParaRPr dirty="0"/>
          </a:p>
        </p:txBody>
      </p:sp>
      <p:cxnSp>
        <p:nvCxnSpPr>
          <p:cNvPr id="241" name="Google Shape;241;p46"/>
          <p:cNvCxnSpPr/>
          <p:nvPr/>
        </p:nvCxnSpPr>
        <p:spPr>
          <a:xfrm>
            <a:off x="4436097" y="2522212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/>
          <p:cNvCxnSpPr/>
          <p:nvPr/>
        </p:nvCxnSpPr>
        <p:spPr>
          <a:xfrm>
            <a:off x="6926150" y="2522212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/>
          <p:cNvCxnSpPr/>
          <p:nvPr/>
        </p:nvCxnSpPr>
        <p:spPr>
          <a:xfrm>
            <a:off x="1769703" y="2522212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Macintosh PowerPoint</Application>
  <PresentationFormat>On-screen Show (16:9)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Montserrat ExtraBold</vt:lpstr>
      <vt:lpstr>Montserrat ExtraLight</vt:lpstr>
      <vt:lpstr>Montserrat</vt:lpstr>
      <vt:lpstr>Arial</vt:lpstr>
      <vt:lpstr>Futuristic Background by Slidesgo</vt:lpstr>
      <vt:lpstr>Machine Translation</vt:lpstr>
      <vt:lpstr>From Mechanical Translation to Neural Systems</vt:lpstr>
      <vt:lpstr>The Probabilistic Revolution in MT</vt:lpstr>
      <vt:lpstr>From Discrete Words to Continuous Representations</vt:lpstr>
      <vt:lpstr>Recent Trends and Open Challenges</vt:lpstr>
      <vt:lpstr>Integrating Ontologies into Neural MT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Nicolae Mogage</cp:lastModifiedBy>
  <cp:revision>3</cp:revision>
  <dcterms:modified xsi:type="dcterms:W3CDTF">2025-10-24T13:14:09Z</dcterms:modified>
</cp:coreProperties>
</file>