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9036" y="1191071"/>
            <a:ext cx="62859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Translation Using Semantic Web Technologies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324622" y="2295971"/>
            <a:ext cx="2494606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33"/>
              </a:lnSpc>
              <a:spcAft>
                <a:spcPts val="3000"/>
              </a:spcAft>
              <a:buNone/>
            </a:pPr>
            <a:r>
              <a:rPr lang="en-US" sz="2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Systematic Survey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800048" y="3011388"/>
            <a:ext cx="55437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 Moussallem, Matthias Wauer, Axel-Cyrille Ngonga Ngomo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969248" y="3411438"/>
            <a:ext cx="320535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Leipzig &amp; University of Paderborn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19954" y="3700909"/>
            <a:ext cx="23040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of Web Semantics (2018)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57515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250"/>
              </a:spcAft>
              <a:buNone/>
            </a:pPr>
            <a:r>
              <a:rPr lang="en-US" sz="30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Context &amp; Motivation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1143000"/>
            <a:ext cx="3934777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1125"/>
              </a:spcAft>
              <a:buNone/>
            </a:pPr>
            <a:r>
              <a:rPr lang="en-US" sz="16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71500" y="1537246"/>
            <a:ext cx="3857625" cy="19621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of web pages not in English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translation doesn't scale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systems still produce errors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errors from reordering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from lexical/semantic ambiguity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14875" y="1143000"/>
            <a:ext cx="3934777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1125"/>
              </a:spcAft>
              <a:buNone/>
            </a:pPr>
            <a:r>
              <a:rPr lang="en-US" sz="16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714875" y="1537246"/>
            <a:ext cx="3857625" cy="18288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Web Technologies provide explicit knowledge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Data offers disambiguated entities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Ontologies encode relationships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to address MT challenges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60333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250"/>
              </a:spcAft>
              <a:buNone/>
            </a:pPr>
            <a:r>
              <a:rPr lang="en-US" sz="30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Review 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1143000"/>
            <a:ext cx="4090226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Initial Search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71500" y="1492151"/>
            <a:ext cx="81610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125"/>
              </a:spcAft>
              <a:buNone/>
            </a:pPr>
            <a:r>
              <a:rPr lang="en-US" sz="18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34,350 articles</a:t>
            </a:r>
            <a:pPr algn="l" indent="0" marL="0">
              <a:lnSpc>
                <a:spcPts val="2700"/>
              </a:lnSpc>
              <a:spcAft>
                <a:spcPts val="1125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databases, conferences, and journals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2025551"/>
            <a:ext cx="4090226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Screening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1500" y="2374702"/>
            <a:ext cx="81610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125"/>
              </a:spcAft>
              <a:buNone/>
            </a:pPr>
            <a:r>
              <a:rPr lang="en-US" sz="18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 articles</a:t>
            </a:r>
            <a:pPr algn="l" indent="0" marL="0">
              <a:lnSpc>
                <a:spcPts val="2700"/>
              </a:lnSpc>
              <a:spcAft>
                <a:spcPts val="1125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filtered by inclusion/exclusion criteria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2908102"/>
            <a:ext cx="4090226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Abstract Review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71500" y="3257252"/>
            <a:ext cx="81610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125"/>
              </a:spcAft>
              <a:buNone/>
            </a:pPr>
            <a:r>
              <a:rPr lang="en-US" sz="18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articles</a:t>
            </a:r>
            <a:pPr algn="l" indent="0" marL="0">
              <a:lnSpc>
                <a:spcPts val="2700"/>
              </a:lnSpc>
              <a:spcAft>
                <a:spcPts val="1125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after abstract review and reference mining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71500" y="3790652"/>
            <a:ext cx="4090226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Full-Text Analysis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1500" y="4139803"/>
            <a:ext cx="81610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125"/>
              </a:spcAft>
              <a:buNone/>
            </a:pPr>
            <a:r>
              <a:rPr lang="en-US" sz="18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final articles</a:t>
            </a:r>
            <a:pPr algn="l" indent="0" marL="0">
              <a:lnSpc>
                <a:spcPts val="2700"/>
              </a:lnSpc>
              <a:spcAft>
                <a:spcPts val="1125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published between 2000-2017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60819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875"/>
              </a:spcAft>
              <a:buNone/>
            </a:pPr>
            <a:r>
              <a:rPr lang="en-US" sz="30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Translation Approaches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1095375"/>
            <a:ext cx="2539901" cy="2085975"/>
          </a:xfrm>
          <a:prstGeom prst="roundRect">
            <a:avLst>
              <a:gd name="adj" fmla="val 365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90550" y="1095375"/>
            <a:ext cx="0" cy="2085975"/>
          </a:xfrm>
          <a:prstGeom prst="line">
            <a:avLst/>
          </a:prstGeom>
          <a:noFill/>
          <a:ln w="38100">
            <a:solidFill>
              <a:srgbClr val="2C5F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" y="1285875"/>
            <a:ext cx="2163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MT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0100" y="1609725"/>
            <a:ext cx="21632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linguistic rules and dictionaries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800100" y="2105025"/>
            <a:ext cx="21632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Deep linguistic knowledge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00100" y="2400300"/>
            <a:ext cx="21632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Expensive to build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800100" y="2695575"/>
            <a:ext cx="21632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Hard to scale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3301901" y="1095375"/>
            <a:ext cx="2540050" cy="2085975"/>
          </a:xfrm>
          <a:prstGeom prst="roundRect">
            <a:avLst>
              <a:gd name="adj" fmla="val 365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20951" y="1095375"/>
            <a:ext cx="0" cy="2085975"/>
          </a:xfrm>
          <a:prstGeom prst="line">
            <a:avLst/>
          </a:prstGeom>
          <a:noFill/>
          <a:ln w="38100">
            <a:solidFill>
              <a:srgbClr val="2C5F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0501" y="1285875"/>
            <a:ext cx="21633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MT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30501" y="1609725"/>
            <a:ext cx="21633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from parallel corpora using ML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3530501" y="2105025"/>
            <a:ext cx="21633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manual rules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3530501" y="2400300"/>
            <a:ext cx="21633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Scalable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3530501" y="2695575"/>
            <a:ext cx="21633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Semantic ambiguity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6032450" y="1095375"/>
            <a:ext cx="2539901" cy="2085975"/>
          </a:xfrm>
          <a:prstGeom prst="roundRect">
            <a:avLst>
              <a:gd name="adj" fmla="val 365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051500" y="1095375"/>
            <a:ext cx="0" cy="2085975"/>
          </a:xfrm>
          <a:prstGeom prst="line">
            <a:avLst/>
          </a:prstGeom>
          <a:noFill/>
          <a:ln w="38100">
            <a:solidFill>
              <a:srgbClr val="2C5F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1050" y="1285875"/>
            <a:ext cx="2163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MT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1050" y="1609725"/>
            <a:ext cx="21632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Sequence-to-sequence neural networks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6261050" y="2105025"/>
            <a:ext cx="21632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State-of-the-art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6261050" y="2400300"/>
            <a:ext cx="21632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Better fluency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6261050" y="2695575"/>
            <a:ext cx="21632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Still statistical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571500" y="3419475"/>
            <a:ext cx="81610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875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approaches struggle with ambiguity and reordering challenges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67522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250"/>
              </a:spcAft>
              <a:buNone/>
            </a:pPr>
            <a:r>
              <a:rPr lang="en-US" sz="30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Web Technologies Applied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1143000"/>
            <a:ext cx="3934777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1125"/>
              </a:spcAft>
              <a:buNone/>
            </a:pPr>
            <a:r>
              <a:rPr lang="en-US" sz="16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Used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71500" y="1537246"/>
            <a:ext cx="3857625" cy="17526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SPARQL Queries for retrieving translations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Annotation of entities with KB concepts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to infer relationships and meanings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14875" y="1143000"/>
            <a:ext cx="3934777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1125"/>
              </a:spcAft>
              <a:buNone/>
            </a:pPr>
            <a:r>
              <a:rPr lang="en-US" sz="16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Utilized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714875" y="1537246"/>
            <a:ext cx="3857625" cy="24765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DBpedia - Entity knowledge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BabelNet - Multilingual lexical resource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SKOS - Vocabulary framework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WordNet - Lexical database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Domain-specific Ontologies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RDF &amp; Linked Open Data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48188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875"/>
              </a:spcAft>
              <a:buNone/>
            </a:pPr>
            <a:r>
              <a:rPr lang="en-US" sz="30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from Survey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1095375"/>
            <a:ext cx="4090226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Disambiguation Success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71500" y="1444526"/>
            <a:ext cx="816102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1350"/>
              </a:spcAft>
              <a:buNone/>
            </a:pP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Web technologies effectively address polysemous and homonymous words, with manual evaluations showing up to 50% improvement in translation quality.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571500" y="2120801"/>
            <a:ext cx="4090226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Entity Translation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1500" y="2469952"/>
            <a:ext cx="816102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1350"/>
              </a:spcAft>
              <a:buNone/>
            </a:pP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Data resources like DBpedia and BabelNet successfully handle named entity recognition and translation, especially for OOV words.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571500" y="3146227"/>
            <a:ext cx="4090226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Domain Ontologies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71500" y="3495377"/>
            <a:ext cx="816102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1350"/>
              </a:spcAft>
              <a:buNone/>
            </a:pP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Domain-specific ontologies provided crucial support for sign language translation and morphologically rich languages, showing 19-35% improvement.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60041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875"/>
              </a:spcAft>
              <a:buNone/>
            </a:pPr>
            <a:r>
              <a:rPr lang="en-US" sz="30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Ontologies Were Integrated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1095375"/>
            <a:ext cx="4090226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Bef>
                <a:spcPts val="1350"/>
              </a:spcBef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Pre-processing (Analysis Phase)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71500" y="1404342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125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modeling and context extraction from source text using SPARQL queries to domain ontologies.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1500" y="1804392"/>
            <a:ext cx="4090226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Bef>
                <a:spcPts val="1350"/>
              </a:spcBef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Translation (Transfer Phase)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71500" y="2113359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125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disambiguation using ontology relationships and semantic annotation to resolve word meanings.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1500" y="2513409"/>
            <a:ext cx="4090226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Bef>
                <a:spcPts val="1350"/>
              </a:spcBef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Post-processing (Generation Phase)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71500" y="2822377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125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linking and translation verification using LOD resources to correct OOV words and entities.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500" y="3222427"/>
            <a:ext cx="4090226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Bef>
                <a:spcPts val="1350"/>
              </a:spcBef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 Enhancement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71500" y="3531394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125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Extracting bilingual dictionaries from multilingual ontologies to augment statistical models.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80930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875"/>
              </a:spcAft>
              <a:buNone/>
            </a:pPr>
            <a:r>
              <a:rPr lang="en-US" sz="30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Stories: Where Ontologies Worked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1095375"/>
            <a:ext cx="5489258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Bef>
                <a:spcPts val="1350"/>
              </a:spcBef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Ukrainian Sign Language (Lozynska &amp; Davydov, 2015)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71500" y="1404342"/>
            <a:ext cx="8161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 Generation, +19% Analysis:</a:t>
            </a:r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Domain ontologies enabled deep syntactic-semantic analysis for sign language translation.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1500" y="2032992"/>
            <a:ext cx="5596128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Bef>
                <a:spcPts val="1350"/>
              </a:spcBef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English-German LOD Mining (McCrae &amp; Cimiano, 2013)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71500" y="2341959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 Quality:</a:t>
            </a:r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Extracting translations from Linked Open Data improved WSD despite no BLEU gains.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1500" y="2742009"/>
            <a:ext cx="498405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Bef>
                <a:spcPts val="1350"/>
              </a:spcBef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Entity Translation (Srivastava et al., 2016)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71500" y="3050977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Overall:</a:t>
            </a:r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LOD-based entity recognition framework using DBpedia significantly improved entity handling.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500" y="3451027"/>
            <a:ext cx="4090226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Bef>
                <a:spcPts val="1350"/>
              </a:spcBef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Chinese-English NMT (Shi et al., 2016)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71500" y="3759994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+3.6 BLEU:</a:t>
            </a:r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Knowledge-based semantic embeddings from KB triples enhanced neural translation quality.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5790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250"/>
              </a:spcAft>
              <a:buNone/>
            </a:pPr>
            <a:r>
              <a:rPr lang="en-US" sz="30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Results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1143000"/>
            <a:ext cx="393477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1125"/>
              </a:spcAft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Metrics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71500" y="1560165"/>
            <a:ext cx="3857625" cy="140196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785"/>
              </a:lnSpc>
              <a:spcAft>
                <a:spcPts val="750"/>
              </a:spcAft>
              <a:buSzPct val="100000"/>
              <a:buChar char="•"/>
            </a:pP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 improvements: 0.8-3.6 points</a:t>
            </a:r>
            <a:endParaRPr lang="en-US" sz="1275" dirty="0"/>
          </a:p>
          <a:p>
            <a:pPr algn="l" marL="95250" indent="-95250">
              <a:lnSpc>
                <a:spcPts val="1785"/>
              </a:lnSpc>
              <a:spcAft>
                <a:spcPts val="750"/>
              </a:spcAft>
              <a:buSzPct val="100000"/>
              <a:buChar char="•"/>
            </a:pP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 reduction: -3.2%</a:t>
            </a:r>
            <a:endParaRPr lang="en-US" sz="1275" dirty="0"/>
          </a:p>
          <a:p>
            <a:pPr algn="l" marL="95250" indent="-95250">
              <a:lnSpc>
                <a:spcPts val="1785"/>
              </a:lnSpc>
              <a:spcAft>
                <a:spcPts val="750"/>
              </a:spcAft>
              <a:buSzPct val="100000"/>
              <a:buChar char="•"/>
            </a:pP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using BLEU: 6 of 21</a:t>
            </a:r>
            <a:endParaRPr lang="en-US" sz="1275" dirty="0"/>
          </a:p>
          <a:p>
            <a:pPr algn="l" marL="95250" indent="-95250">
              <a:lnSpc>
                <a:spcPts val="1785"/>
              </a:lnSpc>
              <a:spcAft>
                <a:spcPts val="750"/>
              </a:spcAft>
              <a:buSzPct val="100000"/>
              <a:buChar char="•"/>
            </a:pP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evaluations: 15 of 21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4714875" y="1143000"/>
            <a:ext cx="393477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1125"/>
              </a:spcAft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Challenges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14875" y="1560165"/>
            <a:ext cx="3857625" cy="140196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785"/>
              </a:lnSpc>
              <a:spcAft>
                <a:spcPts val="750"/>
              </a:spcAft>
              <a:buSzPct val="100000"/>
              <a:buChar char="•"/>
            </a:pP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 has limited semantic gap</a:t>
            </a:r>
            <a:endParaRPr lang="en-US" sz="1275" dirty="0"/>
          </a:p>
          <a:p>
            <a:pPr algn="l" marL="95250" indent="-95250">
              <a:lnSpc>
                <a:spcPts val="1785"/>
              </a:lnSpc>
              <a:spcAft>
                <a:spcPts val="750"/>
              </a:spcAft>
              <a:buSzPct val="100000"/>
              <a:buChar char="•"/>
            </a:pP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evaluations are subjective</a:t>
            </a:r>
            <a:endParaRPr lang="en-US" sz="1275" dirty="0"/>
          </a:p>
          <a:p>
            <a:pPr algn="l" marL="95250" indent="-95250">
              <a:lnSpc>
                <a:spcPts val="1785"/>
              </a:lnSpc>
              <a:spcAft>
                <a:spcPts val="750"/>
              </a:spcAft>
              <a:buSzPct val="100000"/>
              <a:buChar char="•"/>
            </a:pP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METEOR rarely used</a:t>
            </a:r>
            <a:endParaRPr lang="en-US" sz="1275" dirty="0"/>
          </a:p>
          <a:p>
            <a:pPr algn="l" marL="95250" indent="-95250">
              <a:lnSpc>
                <a:spcPts val="1785"/>
              </a:lnSpc>
              <a:spcAft>
                <a:spcPts val="750"/>
              </a:spcAft>
              <a:buSzPct val="100000"/>
              <a:buChar char="•"/>
            </a:pPr>
            <a:r>
              <a:rPr lang="en-US" sz="12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semantic evaluation metrics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571500" y="3152626"/>
            <a:ext cx="8161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500"/>
              </a:spcBef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Real semantic contributions of SWT were only visible through manual evaluation. Manual evaluations showed 19-50% quality gains where BLEU showed minimal or no change.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464400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875"/>
              </a:spcAft>
              <a:buNone/>
            </a:pPr>
            <a:r>
              <a:rPr lang="en-US" sz="30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Limitations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1095375"/>
            <a:ext cx="4090226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Bef>
                <a:spcPts val="1125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Issues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1383209"/>
            <a:ext cx="816102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Reasoners and SPARQL queries are too slow for real-time MT systems. Some approaches could only translate one sentence due to computational constraints.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1500" y="1952625"/>
            <a:ext cx="4090226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Bef>
                <a:spcPts val="1125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Ontology Quality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2240459"/>
            <a:ext cx="816102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well-defined standards for building ontologies leads to erroneous data, incorrect domain/range definitions, and ambiguous annotations.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1500" y="2809875"/>
            <a:ext cx="4090226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Bef>
                <a:spcPts val="1125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Coverage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1500" y="3097709"/>
            <a:ext cx="816102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Linked Data resources are English-centric. Alignment between multilingual ontologies remains challenging and incomplete.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500" y="3667125"/>
            <a:ext cx="4090226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Bef>
                <a:spcPts val="1125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Limitations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71500" y="3954959"/>
            <a:ext cx="816102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Ontology-based approaches work well only within specific domains. Cross-domain translation still requires extensive parallel corpora.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482860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spcAft>
                <a:spcPts val="1500"/>
              </a:spcAft>
              <a:buNone/>
            </a:pPr>
            <a:r>
              <a:rPr lang="en-US" sz="285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Research Directions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571500" y="1028700"/>
            <a:ext cx="8001000" cy="3222278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68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Multiple LOD Resources:</a:t>
            </a:r>
            <a:pPr algn="l" indent="0" marL="0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DBpedia, BabelNet, and domain ontologies simultaneously for better disambiguation coverage and accuracy</a:t>
            </a:r>
            <a:endParaRPr lang="en-US" sz="1200" dirty="0"/>
          </a:p>
          <a:p>
            <a:pPr algn="l" marL="119063" indent="-119063">
              <a:lnSpc>
                <a:spcPts val="168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User-Context Integration:</a:t>
            </a:r>
            <a:pPr algn="l" indent="0" marL="0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Leverage user profiles (FOAF, SIOC) to personalize translations and resolve idioms based on location and interests</a:t>
            </a:r>
            <a:endParaRPr lang="en-US" sz="1200" dirty="0"/>
          </a:p>
          <a:p>
            <a:pPr algn="l" marL="119063" indent="-119063">
              <a:lnSpc>
                <a:spcPts val="168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 Embeddings:</a:t>
            </a:r>
            <a:pPr algn="l" indent="0" marL="0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 multilingual embeddings from RDF to enable cross-lingual entity alignment in neural MT systems</a:t>
            </a:r>
            <a:endParaRPr lang="en-US" sz="1200" dirty="0"/>
          </a:p>
          <a:p>
            <a:pPr algn="l" marL="119063" indent="-119063">
              <a:lnSpc>
                <a:spcPts val="168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Knowledge Bases:</a:t>
            </a:r>
            <a:pPr algn="l" indent="0" marL="0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bilingual ontologies from monolingual ones to improve low-resource language pairs</a:t>
            </a:r>
            <a:endParaRPr lang="en-US" sz="1200" dirty="0"/>
          </a:p>
          <a:p>
            <a:pPr algn="l" marL="119063" indent="-119063">
              <a:lnSpc>
                <a:spcPts val="168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Evaluation Metrics:</a:t>
            </a:r>
            <a:pPr algn="l" indent="0" marL="0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Adopt MEANT and semantic metrics that properly measure meaning preservation</a:t>
            </a:r>
            <a:endParaRPr lang="en-US" sz="1200" dirty="0"/>
          </a:p>
          <a:p>
            <a:pPr algn="l" marL="119063" indent="-119063">
              <a:lnSpc>
                <a:spcPts val="168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Performance:</a:t>
            </a:r>
            <a:pPr algn="l" indent="0" marL="0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Develop faster reasoning engines and caching strategies for real-time ontology-enhanced MT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47695" y="628650"/>
            <a:ext cx="24486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spcAft>
                <a:spcPts val="225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491490" y="1314450"/>
            <a:ext cx="81610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Web technologies show promise</a:t>
            </a:r>
            <a:pPr algn="ctr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enhancing machine translation quality, particularly for disambiguation and entity translation tasks.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91490" y="2114550"/>
            <a:ext cx="81610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Ontologies successfully addressed </a:t>
            </a:r>
            <a:pPr algn="ctr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of MT errors</a:t>
            </a:r>
            <a:pPr algn="ctr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domain-specific contexts, especially for sign languages and morphologically rich languages.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91490" y="2914650"/>
            <a:ext cx="81610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However, the field is </a:t>
            </a:r>
            <a:pPr algn="ctr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in its infancy.</a:t>
            </a:r>
            <a:pPr algn="ctr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Performance bottlenecks, incomplete multilingual coverage, and evaluation challenges limit real-world deployment.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91490" y="3714750"/>
            <a:ext cx="81610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 must focus on scalability, combining multiple LOD resources, and developing semantic evaluation metrics.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Translation Using Semantic Web Technologies</dc:title>
  <dc:subject>Systematic Literature Review</dc:subject>
  <dc:creator>Survey Analysis</dc:creator>
  <cp:lastModifiedBy>Survey Analysis</cp:lastModifiedBy>
  <cp:revision>1</cp:revision>
  <dcterms:created xsi:type="dcterms:W3CDTF">2025-11-29T19:04:53Z</dcterms:created>
  <dcterms:modified xsi:type="dcterms:W3CDTF">2025-11-29T19:04:53Z</dcterms:modified>
</cp:coreProperties>
</file>