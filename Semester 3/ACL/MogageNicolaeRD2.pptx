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chrF++</c:v>
                </c:pt>
                <c:pt idx="1">
                  <c:v>BLEU</c:v>
                </c:pt>
                <c:pt idx="2">
                  <c:v>spBLEU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69.180000000000007</c:v>
                </c:pt>
                <c:pt idx="1">
                  <c:v>46.89</c:v>
                </c:pt>
                <c:pt idx="2">
                  <c:v>53.24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5B-4349-A0F4-F1C4CAECA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Constrained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chrF++</c:v>
                </c:pt>
                <c:pt idx="1">
                  <c:v>BLEU</c:v>
                </c:pt>
                <c:pt idx="2">
                  <c:v>spBLEU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66.959999999999994</c:v>
                </c:pt>
                <c:pt idx="1">
                  <c:v>44.16</c:v>
                </c:pt>
                <c:pt idx="2">
                  <c:v>51.12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5B-4349-A0F4-F1C4CAECA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Metric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43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0883" y="1364114"/>
            <a:ext cx="7322234" cy="152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Machine Translation</a:t>
            </a:r>
            <a:endParaRPr lang="en-US" sz="3600" dirty="0"/>
          </a:p>
          <a:p>
            <a:pPr marL="0" indent="0" algn="ctr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Ontology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16859" y="2982069"/>
            <a:ext cx="57101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spcAft>
                <a:spcPts val="2400"/>
              </a:spcAft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16859" y="3016939"/>
            <a:ext cx="571013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Mogage Nicolae - ICA 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2223195"/>
            <a:ext cx="4095750" cy="1717923"/>
          </a:xfrm>
          <a:prstGeom prst="roundRect">
            <a:avLst>
              <a:gd name="adj" fmla="val 332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236607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875" y="258321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translation demands both linguistic fluency and terminological precision. Incorrect translations can lead to: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3875" y="3002310"/>
            <a:ext cx="3810000" cy="79593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Misdiagnosis and patient safety risks</a:t>
            </a:r>
            <a:endParaRPr lang="en-US" sz="900" dirty="0"/>
          </a:p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non-compliance</a:t>
            </a:r>
            <a:endParaRPr lang="en-US" sz="900" dirty="0"/>
          </a:p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critical medical information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7250" y="2169914"/>
            <a:ext cx="4095750" cy="1824484"/>
          </a:xfrm>
          <a:prstGeom prst="roundRect">
            <a:avLst>
              <a:gd name="adj" fmla="val 3132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10125" y="2312789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10125" y="2529929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ontology-aware NMT system that: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10125" y="2777579"/>
            <a:ext cx="3810000" cy="107394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MeSH medical terminology database</a:t>
            </a:r>
            <a:endParaRPr lang="en-US" sz="900" dirty="0"/>
          </a:p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Fine-tunes NLLB-200 multilingual model</a:t>
            </a:r>
            <a:endParaRPr lang="en-US" sz="900" dirty="0"/>
          </a:p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terminological constraints during translation</a:t>
            </a:r>
            <a:endParaRPr lang="en-US" sz="900" dirty="0"/>
          </a:p>
          <a:p>
            <a:pPr marL="95250" indent="-9525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consistent medical concept translation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1063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550" y="1784449"/>
            <a:ext cx="41776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Ontology Manager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0550" y="2051149"/>
            <a:ext cx="83358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medical terminology mappings from MeSH database (28,000+ terms). Identifies concepts using context-aware matching with definition keywords and synonyms.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243453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550" y="2508349"/>
            <a:ext cx="41776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Translator Module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0550" y="2775049"/>
            <a:ext cx="83358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constrained translation using NLLB-200 (600M parameters). Injects inline annotations with &lt;dnt&gt; tags around medical terms and their French translations.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315843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3232249"/>
            <a:ext cx="41776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Training Pipeline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0550" y="3498949"/>
            <a:ext cx="83358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Fine-tunes model with LoRA adapters (2.3M trainable parameters). Uses augmented ELRC medical corpus with ontology-based annotations.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88233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0550" y="3956149"/>
            <a:ext cx="41776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Data Preparation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0550" y="4222849"/>
            <a:ext cx="833589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Augments parallel corpus by identifying medical concepts and creating annotated versions. Doubles dataset size while maintaining quality filtering.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28600" y="4772025"/>
            <a:ext cx="39027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 | MeSH Integration → NLLB-200 Fine-tuning → Constrained Translation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80096"/>
            <a:ext cx="4095750" cy="1513136"/>
          </a:xfrm>
          <a:prstGeom prst="roundRect">
            <a:avLst>
              <a:gd name="adj" fmla="val 377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622971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875" y="1840111"/>
            <a:ext cx="3886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NLLB-200</a:t>
            </a: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Language Left Behind)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23875" y="2054423"/>
            <a:ext cx="3810000" cy="79593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 parameters (distilled)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200+ languages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on medical texts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3107531"/>
            <a:ext cx="4095750" cy="1576834"/>
          </a:xfrm>
          <a:prstGeom prst="roundRect">
            <a:avLst>
              <a:gd name="adj" fmla="val 362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3875" y="325040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Configuration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3875" y="3467546"/>
            <a:ext cx="3810000" cy="10739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Rank: 32, Alpha: 32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q_proj, v_proj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0.1% parameters trained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catastrophic forgetting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7250" y="1480096"/>
            <a:ext cx="4095750" cy="1513136"/>
          </a:xfrm>
          <a:prstGeom prst="roundRect">
            <a:avLst>
              <a:gd name="adj" fmla="val 435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723281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Injection Method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0125" y="1940421"/>
            <a:ext cx="3886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Annotation Format: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10125" y="2154734"/>
            <a:ext cx="3810000" cy="376238"/>
          </a:xfrm>
          <a:prstGeom prst="roundRect">
            <a:avLst>
              <a:gd name="adj" fmla="val 1012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05375" y="2249984"/>
            <a:ext cx="36918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&lt;dnt&gt; french_translation &lt;/dnt&gt;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10125" y="2607171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"myocardial infarction &lt;dnt&gt; infarctus du myocarde &lt;/dnt&gt;"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7250" y="3107531"/>
            <a:ext cx="4095750" cy="1576834"/>
          </a:xfrm>
          <a:prstGeom prst="roundRect">
            <a:avLst>
              <a:gd name="adj" fmla="val 362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5" y="315009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Hyperparameters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0125" y="3367236"/>
            <a:ext cx="3810000" cy="107394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8 (grad accum: 4)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 2e-4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3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length: 128 tokens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83978"/>
            <a:ext cx="4095750" cy="1984028"/>
          </a:xfrm>
          <a:prstGeom prst="roundRect">
            <a:avLst>
              <a:gd name="adj" fmla="val 2881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72685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Dataset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875" y="1963043"/>
            <a:ext cx="3810000" cy="957263"/>
          </a:xfrm>
          <a:prstGeom prst="roundRect">
            <a:avLst>
              <a:gd name="adj" fmla="val 597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1223" y="2115443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1,049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1223" y="2610743"/>
            <a:ext cx="35753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Pairs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3034605"/>
            <a:ext cx="3886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</a:t>
            </a: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Pharmaceutical documentation, medical reports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23875" y="3267968"/>
            <a:ext cx="3886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 files (EN→FR)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0" y="1583979"/>
            <a:ext cx="4095750" cy="1984028"/>
          </a:xfrm>
          <a:prstGeom prst="roundRect">
            <a:avLst>
              <a:gd name="adj" fmla="val 3337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862584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Compared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0125" y="2079724"/>
            <a:ext cx="3810000" cy="566738"/>
          </a:xfrm>
          <a:prstGeom prst="roundRect">
            <a:avLst>
              <a:gd name="adj" fmla="val 672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4425" y="2194024"/>
            <a:ext cx="36530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1: Baseline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924425" y="2389287"/>
            <a:ext cx="3653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NLLB-200, no fine-tuning, no constraints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10125" y="2722662"/>
            <a:ext cx="3810000" cy="566738"/>
          </a:xfrm>
          <a:prstGeom prst="roundRect">
            <a:avLst>
              <a:gd name="adj" fmla="val 672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4425" y="2836962"/>
            <a:ext cx="36530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2: Constrained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24425" y="3032224"/>
            <a:ext cx="3653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with LoRA + Ontology constraints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3720405"/>
            <a:ext cx="8382000" cy="860078"/>
          </a:xfrm>
          <a:prstGeom prst="roundRect">
            <a:avLst>
              <a:gd name="adj" fmla="val 664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3875" y="3863280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875" y="4099471"/>
            <a:ext cx="26231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chrF++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23875" y="4294733"/>
            <a:ext cx="26231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n-gram F-score with word order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86125" y="4099471"/>
            <a:ext cx="26231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286125" y="4294733"/>
            <a:ext cx="26231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N-gram precision with brevity penalty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48375" y="4099471"/>
            <a:ext cx="262318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spBLEU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048375" y="4294733"/>
            <a:ext cx="26231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on subword tokens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74724"/>
            <a:ext cx="8382000" cy="43815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208074"/>
            <a:ext cx="8277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Outcome: Constrained approach underperformed across all 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646686"/>
            <a:ext cx="8382000" cy="2934690"/>
          </a:xfrm>
          <a:prstGeom prst="roundRect">
            <a:avLst>
              <a:gd name="adj" fmla="val 2373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4825" y="1700041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996383776"/>
              </p:ext>
            </p:extLst>
          </p:nvPr>
        </p:nvGraphicFramePr>
        <p:xfrm>
          <a:off x="457200" y="1911870"/>
          <a:ext cx="8229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5"/>
          <p:cNvSpPr/>
          <p:nvPr/>
        </p:nvSpPr>
        <p:spPr>
          <a:xfrm>
            <a:off x="228600" y="4772025"/>
            <a:ext cx="26948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metrics show 2-3 point decrease with constrained approach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Key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58094"/>
            <a:ext cx="4114800" cy="1659582"/>
          </a:xfrm>
          <a:prstGeom prst="roundRect">
            <a:avLst>
              <a:gd name="adj" fmla="val 362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844725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Explanations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875" y="2061865"/>
            <a:ext cx="3829050" cy="107394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interference: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&lt;dnt&gt; tags may disrupt attention mechanism</a:t>
            </a:r>
            <a:endParaRPr lang="en-US" sz="900" dirty="0"/>
          </a:p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limitations: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3 epochs, limited corpus diversity</a:t>
            </a:r>
            <a:endParaRPr lang="en-US" sz="900" dirty="0"/>
          </a:p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strength: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NLLB-200 already handles medical terms well</a:t>
            </a:r>
            <a:endParaRPr lang="en-US" sz="900" dirty="0"/>
          </a:p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bias: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 metrics measure fluency, not term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48200" y="1658094"/>
            <a:ext cx="4114800" cy="1664345"/>
          </a:xfrm>
          <a:prstGeom prst="roundRect">
            <a:avLst>
              <a:gd name="adj" fmla="val 3434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91075" y="1800969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Valuable Learnings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91075" y="2018109"/>
            <a:ext cx="3829050" cy="116145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injection is non-trivial: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Simply providing hints doesn't guarantee improvement</a:t>
            </a:r>
            <a:endParaRPr lang="en-US" sz="900" dirty="0"/>
          </a:p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models are strong: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 to improve upon well-trained multilingual models</a:t>
            </a:r>
            <a:endParaRPr lang="en-US" sz="900" dirty="0"/>
          </a:p>
          <a:p>
            <a:pPr marL="85725" indent="-85725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specialized metrics: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Term-level accuracy evaluation required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474839"/>
            <a:ext cx="8382000" cy="1031528"/>
          </a:xfrm>
          <a:prstGeom prst="roundRect">
            <a:avLst>
              <a:gd name="adj" fmla="val 554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3617714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Observations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875" y="3853904"/>
            <a:ext cx="403193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Success Case: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3875" y="4077742"/>
            <a:ext cx="40319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version used "altérée" (altered) vs baseline "modifiée" (modified) - more precise medical terminology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67250" y="3925342"/>
            <a:ext cx="403193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Error Case: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67250" y="4149179"/>
            <a:ext cx="4031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caused "salaire" (salary) instead of "sel" (salt) - conflicting signals issue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73845"/>
            <a:ext cx="8382000" cy="1532186"/>
          </a:xfrm>
          <a:prstGeom prst="roundRect">
            <a:avLst>
              <a:gd name="adj" fmla="val 373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616720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Improvements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875" y="1852910"/>
            <a:ext cx="40513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Constraint Methods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23875" y="2067223"/>
            <a:ext cx="3971925" cy="79593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tuning instead of inline tags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Lexically constrained decoding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vocabulary restriction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48200" y="1852910"/>
            <a:ext cx="40513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Evaluation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48200" y="2067223"/>
            <a:ext cx="3971925" cy="79593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Term-level accuracy metrics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human evaluation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categorization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158430"/>
            <a:ext cx="8382000" cy="1532186"/>
          </a:xfrm>
          <a:prstGeom prst="roundRect">
            <a:avLst>
              <a:gd name="adj" fmla="val 373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3301305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Research Directions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875" y="3537496"/>
            <a:ext cx="40513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Systems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23875" y="3751808"/>
            <a:ext cx="3971925" cy="79593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 term replacement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ensembles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memory integration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3537496"/>
            <a:ext cx="40513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&amp; Training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48200" y="3751808"/>
            <a:ext cx="3971925" cy="79593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context integration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usage</a:t>
            </a:r>
            <a:endParaRPr lang="en-US" sz="900" dirty="0"/>
          </a:p>
          <a:p>
            <a:pPr marL="76200" indent="-76200" algn="l">
              <a:lnSpc>
                <a:spcPts val="144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training, larger LoRA rank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7884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10630"/>
            <a:ext cx="8382000" cy="1598265"/>
          </a:xfrm>
          <a:prstGeom prst="roundRect">
            <a:avLst>
              <a:gd name="adj" fmla="val 357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853505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3875" y="2089696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5474" y="2089696"/>
            <a:ext cx="38569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 built for ontology-aware medical NMT (MeSH → NLLB-200 → Constrained translation)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23875" y="2499271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5474" y="2499271"/>
            <a:ext cx="36622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integration of 28,000+ medical terms with context-aware matching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23875" y="2851696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5474" y="2851696"/>
            <a:ext cx="38569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showed decreased scores, but provided valuable insights into constraint injection limitations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67250" y="2265908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38849" y="2265908"/>
            <a:ext cx="38569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multilingual models demonstrate strong baseline performance in medical domain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67250" y="2675483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38849" y="2675483"/>
            <a:ext cx="385690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infrastructure enables rapid experimentation with alternative approaches</a:t>
            </a:r>
            <a:endParaRPr lang="en-US" sz="825" dirty="0"/>
          </a:p>
        </p:txBody>
      </p:sp>
      <p:pic>
        <p:nvPicPr>
          <p:cNvPr id="15" name="Image 0" descr="/tmp/rasterized-gradient-7a70c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61296"/>
            <a:ext cx="8382000" cy="9923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1490" y="3651796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Contribution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1490" y="3928021"/>
            <a:ext cx="816102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complex relationship between terminological constraints and neural translation quality provides a foundation for future improvements in medical translation systems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669</Words>
  <Application>Microsoft Macintosh PowerPoint</Application>
  <PresentationFormat>On-screen Show (16:9)</PresentationFormat>
  <Paragraphs>126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Neural Machine Translation with Ontology Integration</dc:title>
  <dc:subject>PptxGenJS Presentation</dc:subject>
  <dc:creator>Medical NMT Research</dc:creator>
  <cp:lastModifiedBy>Nicolae Mogage</cp:lastModifiedBy>
  <cp:revision>3</cp:revision>
  <dcterms:created xsi:type="dcterms:W3CDTF">2025-11-29T18:19:38Z</dcterms:created>
  <dcterms:modified xsi:type="dcterms:W3CDTF">2025-12-03T07:21:53Z</dcterms:modified>
</cp:coreProperties>
</file>