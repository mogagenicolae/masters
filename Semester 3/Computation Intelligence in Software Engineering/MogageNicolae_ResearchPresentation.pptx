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>
        <p:scale>
          <a:sx n="188" d="100"/>
          <a:sy n="188" d="100"/>
        </p:scale>
        <p:origin x="49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35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12374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4402" y="1346895"/>
            <a:ext cx="3995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Learning-Based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099405" y="2108895"/>
            <a:ext cx="4945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Defect Prediction</a:t>
            </a:r>
            <a:endParaRPr lang="en-US" sz="3000" dirty="0"/>
          </a:p>
        </p:txBody>
      </p:sp>
      <p:pic>
        <p:nvPicPr>
          <p:cNvPr id="6" name="Image 1" descr="/tmp/rasterized-gradient-eebc50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2947095"/>
            <a:ext cx="1143000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66733" y="3366195"/>
            <a:ext cx="441053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Survey of Techniques and Approaches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535022" y="4139505"/>
            <a:ext cx="20739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Mogage Nicolae • ICA</a:t>
            </a:r>
            <a:endParaRPr lang="en-US" sz="1050" dirty="0"/>
          </a:p>
        </p:txBody>
      </p:sp>
      <p:pic>
        <p:nvPicPr>
          <p:cNvPr id="9" name="Image 2" descr="/tmp/rasterized-gradient-c71d43d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14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8575" y="0"/>
            <a:ext cx="0" cy="891480"/>
          </a:xfrm>
          <a:prstGeom prst="line">
            <a:avLst/>
          </a:prstGeom>
          <a:noFill/>
          <a:ln w="571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8150" y="228600"/>
            <a:ext cx="4255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150" y="514350"/>
            <a:ext cx="8491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Software Defect Prediction Matters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81163"/>
            <a:ext cx="4452938" cy="1260128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871663"/>
            <a:ext cx="41533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107853"/>
            <a:ext cx="41533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reliability remains a critical concern in modern development. Post-release defects lead to financial losses and eroded user trust.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246090"/>
            <a:ext cx="4452938" cy="1260128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436590"/>
            <a:ext cx="41533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3672780"/>
            <a:ext cx="415337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Defect Prediction (SDP) uses historical data and machine learning to identify fault-prone code modules before deployment.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119688" y="1398389"/>
            <a:ext cx="37161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050" dirty="0"/>
          </a:p>
        </p:txBody>
      </p:sp>
      <p:pic>
        <p:nvPicPr>
          <p:cNvPr id="13" name="Image 0" descr="/tmp/rasterized-gradient-2c9fc1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688" y="1851720"/>
            <a:ext cx="3643313" cy="87615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72088" y="2004120"/>
            <a:ext cx="34052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272088" y="2202210"/>
            <a:ext cx="340528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has code representation for DL-based SDP evolved?</a:t>
            </a:r>
            <a:endParaRPr lang="en-US" sz="1050" dirty="0"/>
          </a:p>
        </p:txBody>
      </p:sp>
      <p:pic>
        <p:nvPicPr>
          <p:cNvPr id="16" name="Image 1" descr="/tmp/rasterized-gradient-4f7712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8" y="2975521"/>
            <a:ext cx="3643313" cy="8761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72088" y="3127921"/>
            <a:ext cx="34052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272088" y="3326011"/>
            <a:ext cx="340528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performance-cost trade-offs between architectures?</a:t>
            </a:r>
            <a:endParaRPr lang="en-US" sz="1050" dirty="0"/>
          </a:p>
        </p:txBody>
      </p:sp>
      <p:pic>
        <p:nvPicPr>
          <p:cNvPr id="19" name="Image 2" descr="/tmp/rasterized-gradient-6135fa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688" y="4099322"/>
            <a:ext cx="3643313" cy="6895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72088" y="4251722"/>
            <a:ext cx="34052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272088" y="4449812"/>
            <a:ext cx="34052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challenges and future directions remain?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808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8575" y="0"/>
            <a:ext cx="0" cy="878086"/>
          </a:xfrm>
          <a:prstGeom prst="line">
            <a:avLst/>
          </a:prstGeom>
          <a:noFill/>
          <a:ln w="571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8150" y="228600"/>
            <a:ext cx="4255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Defect Prediction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150" y="514350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Metrics to Deep Learning</a:t>
            </a:r>
            <a:endParaRPr lang="en-US" sz="975" dirty="0"/>
          </a:p>
        </p:txBody>
      </p:sp>
      <p:pic>
        <p:nvPicPr>
          <p:cNvPr id="6" name="Image 0" descr="/tmp/rasterized-gradient-9f909e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51" y="1828651"/>
            <a:ext cx="7239000" cy="38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8186" y="1220986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64748B"/>
          </a:solidFill>
          <a:ln w="2857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95264" y="1601986"/>
            <a:ext cx="7520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 - 2000s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49586" y="1933426"/>
            <a:ext cx="6413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Metrics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486126" y="1220986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0EA5E9"/>
          </a:solidFill>
          <a:ln w="2857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34904" y="1601986"/>
            <a:ext cx="6872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 - 2015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44727" y="1933426"/>
            <a:ext cx="6671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Classifiers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7293918" y="1220986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F97316"/>
          </a:solidFill>
          <a:ln w="28575">
            <a:solidFill>
              <a:srgbClr val="F8FAF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92094" y="1601986"/>
            <a:ext cx="7907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2015 - Present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35998" y="1933426"/>
            <a:ext cx="7011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81000" y="2648843"/>
            <a:ext cx="2678162" cy="1887736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81000" y="2667893"/>
            <a:ext cx="2678162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4350" y="2820293"/>
            <a:ext cx="24596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Metrics Era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14350" y="3222129"/>
            <a:ext cx="2411462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Halstead complexity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McCabe cyclomatic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 (LOC)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engineering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192512" y="2648843"/>
            <a:ext cx="2758976" cy="1887736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192512" y="2667893"/>
            <a:ext cx="2758976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325862" y="2820293"/>
            <a:ext cx="25421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Era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3325862" y="3222129"/>
            <a:ext cx="2492276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Forests, SVMs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 metrics as features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hand-crafted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semantics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084838" y="2648843"/>
            <a:ext cx="2678162" cy="1887736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6084838" y="2667893"/>
            <a:ext cx="267816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18188" y="2820293"/>
            <a:ext cx="24596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Era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6218188" y="3222129"/>
            <a:ext cx="2411462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feature extraction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patterns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embeddings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reps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Architectures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Major Approaches to Software Defect Prediction</a:t>
            </a:r>
            <a:endParaRPr lang="en-US" sz="1050" dirty="0"/>
          </a:p>
        </p:txBody>
      </p:sp>
      <p:pic>
        <p:nvPicPr>
          <p:cNvPr id="4" name="Image 0" descr="/tmp/rasterized-gradient-44dcb0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7790"/>
            <a:ext cx="1981200" cy="27621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1025" y="180781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0718" y="1903065"/>
            <a:ext cx="140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1025" y="2569815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1025" y="3000226"/>
            <a:ext cx="16127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1025" y="3426916"/>
            <a:ext cx="161277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feature detection from token embeddings. Captures n-gram patterns in code structure.</a:t>
            </a:r>
            <a:endParaRPr lang="en-US" sz="975" dirty="0"/>
          </a:p>
        </p:txBody>
      </p:sp>
      <p:pic>
        <p:nvPicPr>
          <p:cNvPr id="10" name="Image 1" descr="/tmp/rasterized-gradient-faf72a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607790"/>
            <a:ext cx="1981200" cy="27621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14625" y="180781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885033" y="1903065"/>
            <a:ext cx="118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14625" y="2569815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14625" y="3000226"/>
            <a:ext cx="16127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714625" y="3426916"/>
            <a:ext cx="161277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Long-range context via gating mechanisms. Tracks variable usage across code sequences.</a:t>
            </a:r>
            <a:endParaRPr lang="en-US" sz="975" dirty="0"/>
          </a:p>
        </p:txBody>
      </p:sp>
      <p:pic>
        <p:nvPicPr>
          <p:cNvPr id="16" name="Image 2" descr="/tmp/rasterized-gradient-f994a6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700659"/>
            <a:ext cx="1981200" cy="25763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8225" y="190068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002709" y="1995934"/>
            <a:ext cx="1511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848225" y="2662684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848225" y="3093095"/>
            <a:ext cx="16127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48225" y="3519785"/>
            <a:ext cx="161277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Property Graphs combining AST, CFG, and PDG with message passing.</a:t>
            </a:r>
            <a:endParaRPr lang="en-US" sz="975" dirty="0"/>
          </a:p>
        </p:txBody>
      </p:sp>
      <p:pic>
        <p:nvPicPr>
          <p:cNvPr id="22" name="Image 3" descr="/tmp/rasterized-gradient-1838b1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1700659"/>
            <a:ext cx="1981200" cy="25763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81825" y="1900684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7152233" y="1995934"/>
            <a:ext cx="118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981825" y="2662684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981825" y="3093095"/>
            <a:ext cx="16127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and Pre-trained Models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981825" y="3519785"/>
            <a:ext cx="161277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CodeBERT, GPT-4, LLaMA with in-context learning capabilities.</a:t>
            </a:r>
            <a:endParaRPr lang="en-US" sz="975" dirty="0"/>
          </a:p>
        </p:txBody>
      </p:sp>
      <p:pic>
        <p:nvPicPr>
          <p:cNvPr id="28" name="Image 4" descr="/tmp/rasterized-gradient-b3f7f4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14925"/>
            <a:ext cx="9144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8575" y="0"/>
            <a:ext cx="0" cy="859036"/>
          </a:xfrm>
          <a:prstGeom prst="line">
            <a:avLst/>
          </a:prstGeom>
          <a:noFill/>
          <a:ln w="571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8150" y="228600"/>
            <a:ext cx="4255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Architectures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150" y="514350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and LSTMs for Code Understanding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1405086"/>
            <a:ext cx="4095750" cy="3192363"/>
          </a:xfrm>
          <a:prstGeom prst="roundRect">
            <a:avLst>
              <a:gd name="adj" fmla="val 298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424136"/>
            <a:ext cx="409575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2450" y="1614636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8834" y="1679377"/>
            <a:ext cx="1123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600" y="1666131"/>
            <a:ext cx="37890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2450" y="2224236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52450" y="2580382"/>
            <a:ext cx="382790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convolutions detect local patterns similar to n-gram features.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52450" y="3193554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52450" y="3549700"/>
            <a:ext cx="37528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local feature detection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syntactic patterns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7250" y="1424136"/>
            <a:ext cx="4095750" cy="3173307"/>
          </a:xfrm>
          <a:prstGeom prst="roundRect">
            <a:avLst>
              <a:gd name="adj" fmla="val 389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424136"/>
            <a:ext cx="40957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38700" y="162675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63567" y="1691492"/>
            <a:ext cx="95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76850" y="1678246"/>
            <a:ext cx="4760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38700" y="2236351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38700" y="2592497"/>
            <a:ext cx="3827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 mechanisms maintain long-range dependencies in code.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38700" y="3032433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38700" y="3388579"/>
            <a:ext cx="37528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variable usage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dependencies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Variable-length inputs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8575" y="0"/>
            <a:ext cx="0" cy="859036"/>
          </a:xfrm>
          <a:prstGeom prst="line">
            <a:avLst/>
          </a:prstGeom>
          <a:noFill/>
          <a:ln w="571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8150" y="228600"/>
            <a:ext cx="4255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Architectures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150" y="514350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and Transformer Models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1414611"/>
            <a:ext cx="4095750" cy="3173313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433661"/>
            <a:ext cx="409575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2450" y="162416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4518" y="1688902"/>
            <a:ext cx="1209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600" y="1675656"/>
            <a:ext cx="3886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2450" y="2233761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PROPERTY GRAPHS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52450" y="2589907"/>
            <a:ext cx="382790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= AST + CFG + PDG combining syntax, control flow, and data dependencies.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52450" y="3184029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52450" y="3540175"/>
            <a:ext cx="37528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Message-passing aggregation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relationships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Devign model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7250" y="1626840"/>
            <a:ext cx="4095750" cy="2748707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645890"/>
            <a:ext cx="4095750" cy="0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38700" y="183639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63567" y="1901130"/>
            <a:ext cx="95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76850" y="1887885"/>
            <a:ext cx="1117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38700" y="244599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CATEGORIES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38700" y="2802136"/>
            <a:ext cx="3752850" cy="312390"/>
          </a:xfrm>
          <a:prstGeom prst="roundRect">
            <a:avLst>
              <a:gd name="adj" fmla="val 18294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3950" y="2878336"/>
            <a:ext cx="36335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Pre-trained: CodeBERT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38700" y="3324076"/>
            <a:ext cx="3752850" cy="312390"/>
          </a:xfrm>
          <a:prstGeom prst="roundRect">
            <a:avLst>
              <a:gd name="adj" fmla="val 18294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3950" y="3400276"/>
            <a:ext cx="36335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Generative: GPT-4, LLaMA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38700" y="3884116"/>
            <a:ext cx="38279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captures global dependencies without sequential processing.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8575" y="0"/>
            <a:ext cx="0" cy="859036"/>
          </a:xfrm>
          <a:prstGeom prst="line">
            <a:avLst/>
          </a:prstGeom>
          <a:noFill/>
          <a:ln w="571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8150" y="228600"/>
            <a:ext cx="4255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Results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150" y="514350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 Across Model Families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1768971"/>
            <a:ext cx="23373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189857"/>
            <a:ext cx="2291507" cy="516136"/>
          </a:xfrm>
          <a:prstGeom prst="roundRect">
            <a:avLst>
              <a:gd name="adj" fmla="val 110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285107"/>
            <a:ext cx="21430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2464147"/>
            <a:ext cx="2143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Precision-Recall balance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845931"/>
            <a:ext cx="2291507" cy="516136"/>
          </a:xfrm>
          <a:prstGeom prst="roundRect">
            <a:avLst>
              <a:gd name="adj" fmla="val 110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2941181"/>
            <a:ext cx="21430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6250" y="3120221"/>
            <a:ext cx="21430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Under Curve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63007" y="1139577"/>
            <a:ext cx="5899993" cy="3685431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15407" y="1291977"/>
            <a:ext cx="5707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by Model Family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015407" y="1731913"/>
            <a:ext cx="5595193" cy="298996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29707" y="1808113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Family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291728" y="1808113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962622" y="1808113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015407" y="2183309"/>
            <a:ext cx="5595193" cy="28947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015407" y="2468017"/>
            <a:ext cx="559519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29707" y="2249984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291728" y="2249984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962622" y="2249984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0.70-0.75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015407" y="2625179"/>
            <a:ext cx="5595193" cy="2894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15407" y="2909888"/>
            <a:ext cx="559519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29707" y="2691854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DL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291728" y="2691854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962622" y="2691854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87-90%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015407" y="3067050"/>
            <a:ext cx="5595193" cy="28947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015407" y="3351758"/>
            <a:ext cx="559519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29707" y="3133725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(GNN)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291728" y="3133725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962622" y="3133725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~0.77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015407" y="3508921"/>
            <a:ext cx="5595193" cy="2894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015407" y="3793629"/>
            <a:ext cx="559519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29707" y="3575596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 Models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291728" y="3575596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962622" y="3575596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0.75-0.80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3015407" y="3950791"/>
            <a:ext cx="5595193" cy="28947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015407" y="4235500"/>
            <a:ext cx="5595193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129707" y="4017466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5291728" y="4017466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962622" y="4017466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0.80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3015407" y="4392662"/>
            <a:ext cx="5595193" cy="2799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129707" y="4459337"/>
            <a:ext cx="20653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LLM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5291728" y="4459337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6962622" y="4459337"/>
            <a:ext cx="15488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~0.84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Paradigms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Just-In-Time and Line-Level Prediction</a:t>
            </a:r>
            <a:endParaRPr lang="en-US" sz="975" dirty="0"/>
          </a:p>
        </p:txBody>
      </p:sp>
      <p:pic>
        <p:nvPicPr>
          <p:cNvPr id="4" name="Image 0" descr="/tmp/rasterized-gradient-355bb9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13433"/>
            <a:ext cx="4095750" cy="2956471"/>
          </a:xfrm>
          <a:prstGeom prst="rect">
            <a:avLst/>
          </a:prstGeom>
        </p:spPr>
      </p:pic>
      <p:pic>
        <p:nvPicPr>
          <p:cNvPr id="5" name="Image 1" descr="/tmp/rasterized-gradient-c567ef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694408"/>
            <a:ext cx="381000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875" y="1804839"/>
            <a:ext cx="1685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38225" y="1704975"/>
            <a:ext cx="11641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Just-In-Time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8225" y="1918246"/>
            <a:ext cx="11641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Commit-Level Prediction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561975" y="2361158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defects at commit time by analyzing code changes.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61975" y="2787848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61975" y="3149798"/>
            <a:ext cx="3733800" cy="464790"/>
          </a:xfrm>
          <a:prstGeom prst="roundRect">
            <a:avLst>
              <a:gd name="adj" fmla="val 10247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76263" y="3149798"/>
            <a:ext cx="0" cy="464790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85800" y="3225998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DeepJIT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" y="3405039"/>
            <a:ext cx="3585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on commits + changes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61975" y="3824139"/>
            <a:ext cx="3733800" cy="464790"/>
          </a:xfrm>
          <a:prstGeom prst="roundRect">
            <a:avLst>
              <a:gd name="adj" fmla="val 10247"/>
            </a:avLst>
          </a:prstGeom>
          <a:solidFill>
            <a:srgbClr val="0EA5E9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76263" y="3824139"/>
            <a:ext cx="0" cy="464790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5800" y="3900339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CC2Vec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85800" y="4079379"/>
            <a:ext cx="3585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attention</a:t>
            </a:r>
            <a:endParaRPr lang="en-US" sz="750" dirty="0"/>
          </a:p>
        </p:txBody>
      </p:sp>
      <p:pic>
        <p:nvPicPr>
          <p:cNvPr id="19" name="Image 2" descr="/tmp/rasterized-gradient-aa7520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1653480"/>
            <a:ext cx="4095750" cy="2676376"/>
          </a:xfrm>
          <a:prstGeom prst="rect">
            <a:avLst/>
          </a:prstGeom>
        </p:spPr>
      </p:pic>
      <p:pic>
        <p:nvPicPr>
          <p:cNvPr id="20" name="Image 3" descr="/tmp/rasterized-gradient-d762d7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225" y="1834455"/>
            <a:ext cx="381000" cy="381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68776" y="1944886"/>
            <a:ext cx="1425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324475" y="1845022"/>
            <a:ext cx="9506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Line-Level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24475" y="2058293"/>
            <a:ext cx="9506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Localization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4848225" y="2501205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specific defective lines within flagged modules.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848225" y="2927896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4848225" y="3289846"/>
            <a:ext cx="3733800" cy="464790"/>
          </a:xfrm>
          <a:prstGeom prst="roundRect">
            <a:avLst>
              <a:gd name="adj" fmla="val 10247"/>
            </a:avLst>
          </a:prstGeom>
          <a:solidFill>
            <a:srgbClr val="F9731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4862513" y="3289846"/>
            <a:ext cx="0" cy="46479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972050" y="3366046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DeepLineDP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972050" y="3545086"/>
            <a:ext cx="3585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scores highlight lines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4848225" y="40022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flagged → Attention analysis → Line ranking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8575" y="0"/>
            <a:ext cx="0" cy="859036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8150" y="228600"/>
            <a:ext cx="4255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Challenges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150" y="514350"/>
            <a:ext cx="84913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Issues in DL-Based SDP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1427857"/>
            <a:ext cx="2665661" cy="3089672"/>
          </a:xfrm>
          <a:prstGeom prst="roundRect">
            <a:avLst>
              <a:gd name="adj" fmla="val 35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446907"/>
            <a:ext cx="2665661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3400" y="161835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275" y="1669852"/>
            <a:ext cx="582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208907"/>
            <a:ext cx="24080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2605088"/>
            <a:ext cx="240807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Defective modules are rare, leading to biased classifiers.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3145929"/>
            <a:ext cx="24080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3400" y="3488829"/>
            <a:ext cx="2360861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oversampling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GAN-based synthesis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loss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99061" y="1427857"/>
            <a:ext cx="2746028" cy="3089672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199061" y="1446907"/>
            <a:ext cx="274602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51461" y="161835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FC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94336" y="1669852"/>
            <a:ext cx="582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51461" y="2208907"/>
            <a:ext cx="24900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1461" y="2605088"/>
            <a:ext cx="249005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splits allow future knowledge to leak into training.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351461" y="3145929"/>
            <a:ext cx="24900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51461" y="3488829"/>
            <a:ext cx="2441228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splitting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past only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future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097488" y="1427857"/>
            <a:ext cx="2665661" cy="3089672"/>
          </a:xfrm>
          <a:prstGeom prst="roundRect">
            <a:avLst>
              <a:gd name="adj" fmla="val 357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97488" y="1446907"/>
            <a:ext cx="2665661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49888" y="161835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68951" y="1669852"/>
            <a:ext cx="1068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49888" y="2208907"/>
            <a:ext cx="24080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49888" y="2605088"/>
            <a:ext cx="240807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models are black boxes, hindering developer trust.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249888" y="3145929"/>
            <a:ext cx="24080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METHODS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49888" y="3488829"/>
            <a:ext cx="2360861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explanations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values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viz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Toward Autonomous Defect Management</a:t>
            </a:r>
            <a:endParaRPr lang="en-US" sz="1050" dirty="0"/>
          </a:p>
        </p:txBody>
      </p:sp>
      <p:pic>
        <p:nvPicPr>
          <p:cNvPr id="4" name="Image 0" descr="/tmp/rasterized-gradient-4bf9fe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97347"/>
            <a:ext cx="8382000" cy="2057251"/>
          </a:xfrm>
          <a:prstGeom prst="rect">
            <a:avLst/>
          </a:prstGeom>
        </p:spPr>
      </p:pic>
      <p:pic>
        <p:nvPicPr>
          <p:cNvPr id="5" name="Image 1" descr="/tmp/rasterized-gradient-a89d45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673572"/>
            <a:ext cx="609600" cy="60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5635" y="1805288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495425" y="1673572"/>
            <a:ext cx="713117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Systems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95425" y="2043113"/>
            <a:ext cx="713117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spcAft>
                <a:spcPts val="1200"/>
              </a:spcAft>
              <a:buNone/>
            </a:pPr>
            <a:r>
              <a:rPr lang="en-US" sz="11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promising frontier: LLM-based agents that autonomously verify defects, generate tests, and propose patches.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495425" y="2624138"/>
            <a:ext cx="1807518" cy="554236"/>
          </a:xfrm>
          <a:prstGeom prst="roundRect">
            <a:avLst>
              <a:gd name="adj" fmla="val 1374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647825" y="2738438"/>
            <a:ext cx="15327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47825" y="2917478"/>
            <a:ext cx="15327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defect confirmation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3455343" y="2624138"/>
            <a:ext cx="1469678" cy="554236"/>
          </a:xfrm>
          <a:prstGeom prst="roundRect">
            <a:avLst>
              <a:gd name="adj" fmla="val 1374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607743" y="2738438"/>
            <a:ext cx="118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607743" y="2917478"/>
            <a:ext cx="118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test cases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077420" y="2624138"/>
            <a:ext cx="1195983" cy="554236"/>
          </a:xfrm>
          <a:prstGeom prst="roundRect">
            <a:avLst>
              <a:gd name="adj" fmla="val 1374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229820" y="2738438"/>
            <a:ext cx="9090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229820" y="2917478"/>
            <a:ext cx="9090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code fixes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6425803" y="2624138"/>
            <a:ext cx="1289149" cy="554236"/>
          </a:xfrm>
          <a:prstGeom prst="roundRect">
            <a:avLst>
              <a:gd name="adj" fmla="val 1374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578203" y="2738438"/>
            <a:ext cx="10040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578203" y="2917478"/>
            <a:ext cx="10040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fusion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381000" y="3645098"/>
            <a:ext cx="2692450" cy="935236"/>
          </a:xfrm>
          <a:prstGeom prst="roundRect">
            <a:avLst>
              <a:gd name="adj" fmla="val 1222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1975" y="3826073"/>
            <a:ext cx="2377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Fusion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561975" y="4056459"/>
            <a:ext cx="23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code, documentation, commit history, and issue trackers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225850" y="3645098"/>
            <a:ext cx="2692450" cy="935236"/>
          </a:xfrm>
          <a:prstGeom prst="roundRect">
            <a:avLst>
              <a:gd name="adj" fmla="val 1222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406825" y="3826073"/>
            <a:ext cx="2377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Cross-Project Transfer</a:t>
            </a:r>
            <a:endParaRPr lang="en-US" sz="975" dirty="0"/>
          </a:p>
        </p:txBody>
      </p:sp>
      <p:sp>
        <p:nvSpPr>
          <p:cNvPr id="26" name="Text 22"/>
          <p:cNvSpPr/>
          <p:nvPr/>
        </p:nvSpPr>
        <p:spPr>
          <a:xfrm>
            <a:off x="3406825" y="4056459"/>
            <a:ext cx="23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adaptation for limited training data scenarios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070699" y="3730823"/>
            <a:ext cx="2692450" cy="763786"/>
          </a:xfrm>
          <a:prstGeom prst="roundRect">
            <a:avLst>
              <a:gd name="adj" fmla="val 149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51674" y="3911798"/>
            <a:ext cx="23771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Models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6251674" y="4142184"/>
            <a:ext cx="23771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trust through explainable 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886ca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86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150" y="228600"/>
            <a:ext cx="42553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38150" y="571500"/>
            <a:ext cx="8491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from the Survey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293465"/>
            <a:ext cx="446335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0550" y="150301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9584" y="156775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6800" y="1503015"/>
            <a:ext cx="3639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Outperforms Traditional ML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066800" y="1741140"/>
            <a:ext cx="3639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feature extraction learns semantic code patterns that hand-crafted metrics cannot capture.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81000" y="2626965"/>
            <a:ext cx="446335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0550" y="283651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9584" y="290125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6800" y="2836515"/>
            <a:ext cx="3639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Choice Matters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066800" y="3074640"/>
            <a:ext cx="3639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CNNs, LSTMs, GNNs, and Transformers each excel at different aspects of code understanding.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81000" y="3960465"/>
            <a:ext cx="446335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0550" y="417001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9584" y="423475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6800" y="4170015"/>
            <a:ext cx="3639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is the Future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066800" y="4408140"/>
            <a:ext cx="3639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agents will move beyond prediction to autonomous verification, testing, and patching.</a:t>
            </a:r>
            <a:endParaRPr lang="en-US" sz="975" dirty="0"/>
          </a:p>
        </p:txBody>
      </p:sp>
      <p:pic>
        <p:nvPicPr>
          <p:cNvPr id="20" name="Image 1" descr="/tmp/rasterized-gradient-2c091c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055" y="1516707"/>
            <a:ext cx="3651945" cy="324906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39655" y="1745307"/>
            <a:ext cx="3258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339655" y="2057698"/>
            <a:ext cx="3258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Models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5339655" y="2242393"/>
            <a:ext cx="32586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CodeBERT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39655" y="2589014"/>
            <a:ext cx="3258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LLMs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5339655" y="2773710"/>
            <a:ext cx="32586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LLaMA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339655" y="3120330"/>
            <a:ext cx="3258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5339655" y="3305026"/>
            <a:ext cx="32586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Devign (GNN)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339655" y="3651647"/>
            <a:ext cx="3258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Just-In-Time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5339655" y="3836343"/>
            <a:ext cx="32586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DeepJIT, CC2Vec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339655" y="4206776"/>
            <a:ext cx="319474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339655" y="4363938"/>
            <a:ext cx="32586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F1-Score: ~0.84 (LLMs)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ffea7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pic>
        <p:nvPicPr>
          <p:cNvPr id="3" name="Image 1" descr="/tmp/rasterized-gradient-f105c7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0"/>
            <a:ext cx="762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1369" y="802184"/>
            <a:ext cx="11409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3289253" y="1369814"/>
            <a:ext cx="2565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pic>
        <p:nvPicPr>
          <p:cNvPr id="6" name="Image 2" descr="/tmp/rasterized-gradient-3c75ff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601" y="2131814"/>
            <a:ext cx="1714500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61691" y="2627114"/>
            <a:ext cx="38204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6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Learning-Based Software Defect Prediction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3528715" y="3476625"/>
            <a:ext cx="2086273" cy="864691"/>
          </a:xfrm>
          <a:prstGeom prst="roundRect">
            <a:avLst>
              <a:gd name="adj" fmla="val 132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3906188" y="3676650"/>
            <a:ext cx="13313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906188" y="3901380"/>
            <a:ext cx="13313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Mogage Nicolae</a:t>
            </a:r>
            <a:endParaRPr lang="en-US" sz="1350" dirty="0"/>
          </a:p>
        </p:txBody>
      </p:sp>
      <p:pic>
        <p:nvPicPr>
          <p:cNvPr id="11" name="Image 3" descr="/tmp/rasterized-gradient-51ec6a9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732</Words>
  <Application>Microsoft Macintosh PowerPoint</Application>
  <PresentationFormat>On-screen Show (16:9)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Software Defect Prediction</dc:title>
  <dc:subject>A Survey of DL Techniques for SDP</dc:subject>
  <dc:creator>Mogage Nicolae</dc:creator>
  <cp:lastModifiedBy>Nicolae Mogage</cp:lastModifiedBy>
  <cp:revision>4</cp:revision>
  <dcterms:created xsi:type="dcterms:W3CDTF">2025-11-27T14:28:38Z</dcterms:created>
  <dcterms:modified xsi:type="dcterms:W3CDTF">2025-11-27T16:06:08Z</dcterms:modified>
</cp:coreProperties>
</file>